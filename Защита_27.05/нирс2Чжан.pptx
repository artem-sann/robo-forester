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328" r:id="rId2"/>
    <p:sldId id="383" r:id="rId3"/>
    <p:sldId id="384" r:id="rId4"/>
    <p:sldId id="385" r:id="rId5"/>
    <p:sldId id="386" r:id="rId6"/>
    <p:sldId id="387" r:id="rId7"/>
    <p:sldId id="388" r:id="rId8"/>
    <p:sldId id="393" r:id="rId9"/>
    <p:sldId id="394" r:id="rId10"/>
    <p:sldId id="395" r:id="rId11"/>
    <p:sldId id="391" r:id="rId12"/>
    <p:sldId id="392" r:id="rId13"/>
    <p:sldId id="346" r:id="rId14"/>
  </p:sldIdLst>
  <p:sldSz cx="12192000" cy="6858000"/>
  <p:notesSz cx="6858000" cy="9144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s" id="{FCEA663C-48B0-7640-ACFB-F74CC6B52896}">
          <p14:sldIdLst>
            <p14:sldId id="328"/>
          </p14:sldIdLst>
        </p14:section>
        <p14:section name="Main Pages" id="{2D6216EE-085B-1D4F-9148-1C95E9B04113}">
          <p14:sldIdLst>
            <p14:sldId id="383"/>
            <p14:sldId id="384"/>
            <p14:sldId id="385"/>
            <p14:sldId id="386"/>
            <p14:sldId id="387"/>
            <p14:sldId id="388"/>
            <p14:sldId id="393"/>
            <p14:sldId id="394"/>
            <p14:sldId id="395"/>
            <p14:sldId id="391"/>
            <p14:sldId id="392"/>
          </p14:sldIdLst>
        </p14:section>
        <p14:section name="End Pages" id="{3602EDAD-CAB5-8D49-BB7B-9D76B042243D}">
          <p14:sldIdLst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CECFF"/>
    <a:srgbClr val="D4E6FF"/>
    <a:srgbClr val="176DEA"/>
    <a:srgbClr val="000000"/>
    <a:srgbClr val="232323"/>
    <a:srgbClr val="434343"/>
    <a:srgbClr val="D4E5FE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4"/>
    <p:restoredTop sz="84868" autoAdjust="0"/>
  </p:normalViewPr>
  <p:slideViewPr>
    <p:cSldViewPr snapToGrid="0" snapToObjects="1">
      <p:cViewPr varScale="1">
        <p:scale>
          <a:sx n="67" d="100"/>
          <a:sy n="67" d="100"/>
        </p:scale>
        <p:origin x="72" y="680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1DD2-73B1-F14C-85CF-6D78FFDE7F84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6FB5-F890-304F-A36B-54AA81FB8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9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918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81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6B3F-CA31-D536-8C80-E29F95BB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F53A5E-102B-AADA-8AA8-02040A262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949BC3-BD90-1C52-2C1E-CF63388B9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A67AA9-2252-7971-29BD-F0834C89E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007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AA83-6B63-F655-616D-EEAB5E5F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79263B-89D9-3A46-F058-714FFDA17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0A9772-DD42-3295-AB77-D62973F87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719E1-DAC3-703D-DBD4-8980D1D83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967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ED4BC-5B87-56DC-A78E-DE7794B7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F825D0-FE27-3902-2DD8-B4589B95B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12CE11-BEA1-C8B7-C971-F6E4BD690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数据扫描模块讲解</a:t>
            </a:r>
            <a:r>
              <a:rPr lang="ru-RU" altLang="zh-CN" dirty="0"/>
              <a:t>С точки зрения проектирования данный подход разделяет процесс запуска системы и внутреннюю обработку данных. Скрипты выполняют только функции диспетчеризации, а вся сложная логика реализована в файле </a:t>
            </a:r>
            <a:r>
              <a:rPr lang="ru-RU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src/pipeline.py</a:t>
            </a:r>
            <a:r>
              <a:rPr lang="ru-RU" altLang="zh-CN" dirty="0"/>
              <a:t>. Благодаря этому входной слой сохраняет простоту, а основная логика сконцентрирована в едином месте. Данный конвейер может повторно использоваться как при работе с видеоматериалами датасета JAAD, так и при подключении к интерфейсу камеры.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algn="l">
              <a:buNone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Принципы проектирования</a:t>
            </a:r>
          </a:p>
          <a:p>
            <a:pPr algn="l">
              <a:buFont typeface="+mj-lt"/>
              <a:buAutoNum type="arabicPeriod"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Модульность: Для каждого источника данных реализован отдельный загрузчик.</a:t>
            </a:r>
          </a:p>
          <a:p>
            <a:pPr algn="l">
              <a:buFont typeface="+mj-lt"/>
              <a:buAutoNum type="arabicPeriod"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Унифицированный интерфейс: Формат выходных данных не зависит от алгоритмов верхнего уровня.</a:t>
            </a:r>
          </a:p>
          <a:p>
            <a:pPr algn="l">
              <a:buFont typeface="+mj-lt"/>
              <a:buAutoNum type="arabicPeriod"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Масштабируемость: Обеспечивается простое подключение новых наборов данных (в том числе KITTI, nuScenes) и перспективная адаптация для развертывания бортовых систем компьютерного зрения транспортных средств.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83A5F-6054-FAD4-2702-1CCC27837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8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F37F-323C-3FC9-A5BE-97AECAE98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5890A1-230B-9BD0-01EE-494B13436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BD429B-7234-779D-F41A-9BAFF7625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zh-CN" dirty="0">
                <a:effectLst/>
              </a:rPr>
              <a:t>На странице представлена реализация класса YOLOXDetector, в рамках которой система при инициализации выбирает бэкенд детектирования в порядке приоритета YOLOX → YOLOv8 → HOG, устанавливая в качестве текущего первый работоспособный вариант, а при сбое бэкендов глубокого обучения во время работы немедленно переключается на HOG для гарантии непрерывности функции детектирования; реализованная в архитектуре Tracking-by-Detection с развязкой процессов детектирования и отслеживания объектов, данная система обеспечивает многоуровневую отказоустойчивость детектора, которая служит основой для высокой робастности всей системы.</a:t>
            </a:r>
            <a:r>
              <a:rPr lang="zh-CN" altLang="en-US" dirty="0">
                <a:effectLst/>
              </a:rPr>
              <a:t>本页面介绍了</a:t>
            </a:r>
            <a:r>
              <a:rPr lang="en-US" altLang="zh-CN" dirty="0" err="1">
                <a:effectLst/>
              </a:rPr>
              <a:t>YOLOXDetector</a:t>
            </a:r>
            <a:r>
              <a:rPr lang="zh-CN" altLang="en-US" dirty="0">
                <a:effectLst/>
              </a:rPr>
              <a:t>类的实现。初始化时，系统按</a:t>
            </a:r>
            <a:r>
              <a:rPr lang="en-US" altLang="zh-CN" dirty="0">
                <a:effectLst/>
              </a:rPr>
              <a:t>YOLOX → YOLOv8 → HOG</a:t>
            </a:r>
            <a:r>
              <a:rPr lang="zh-CN" altLang="en-US" dirty="0">
                <a:effectLst/>
              </a:rPr>
              <a:t>的顺序选择检测后端，并将第一个可用的后端设置为当前后端。如果深度学习后端在运行过程中发生故障，系统会立即切换到</a:t>
            </a:r>
            <a:r>
              <a:rPr lang="en-US" altLang="zh-CN" dirty="0">
                <a:effectLst/>
              </a:rPr>
              <a:t>HOG</a:t>
            </a:r>
            <a:r>
              <a:rPr lang="zh-CN" altLang="en-US" dirty="0">
                <a:effectLst/>
              </a:rPr>
              <a:t>，以确保检测功能的连续性。该系统采用基于检测的跟踪架构，将检测和目标跟踪过程解耦，从而保证了检测器的多级容错能力，这也是整个系统高鲁棒性的基础。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360C7-60E6-5BDB-40A0-040DAFCDD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58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8A85-1DC1-44B4-6CE6-CC2C8920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153586-6357-E59C-317A-331D15CE7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7D8FF5-D131-BB36-A9D3-9EA20A5B0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9FF44-3346-C13E-96D0-CFED5ABF8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433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B1685-6F1E-156F-BF63-49975F8D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DA7A1B-8EC8-9CAD-FA77-CA58BCA38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D76B6F-F466-7D53-9B91-F044AC42A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800"/>
              </a:lnSpc>
              <a:buNone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Вход: координаты левого верхнего и правого нижнего углов ограничивающего прямоугольника </a:t>
            </a:r>
            <a:r>
              <a:rPr lang="ru-RU" altLang="zh-CN" sz="1200" b="0" i="1" dirty="0">
                <a:solidFill>
                  <a:srgbClr val="000000"/>
                </a:solidFill>
                <a:effectLst/>
                <a:latin typeface="ui-sans-serif"/>
              </a:rPr>
              <a:t>(x1,y1,x2,y2)</a:t>
            </a:r>
            <a:endParaRPr lang="en-US" altLang="zh-CN" sz="1200" b="0" i="1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None/>
            </a:pPr>
            <a:endParaRPr lang="ru-RU" altLang="zh-CN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None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Преобразование ограничивающего прямоугольника в вектор наблюдения фильтра Калмана</a:t>
            </a:r>
            <a:endParaRPr lang="en-US" altLang="zh-CN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None/>
            </a:pPr>
            <a:endParaRPr lang="ru-RU" altLang="zh-CN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r>
              <a:rPr lang="ru-RU" altLang="zh-CN" sz="1200" dirty="0"/>
              <a:t>Вход: координаты левого верхнего и правого нижнего углов ограничивающего прямоугольника </a:t>
            </a:r>
            <a:r>
              <a:rPr lang="ru-RU" altLang="zh-CN" sz="1200" i="1" dirty="0">
                <a:solidFill>
                  <a:srgbClr val="000000"/>
                </a:solidFill>
                <a:latin typeface="ui-sans-serif"/>
              </a:rPr>
              <a:t>(x1,y1,x2,y2)</a:t>
            </a:r>
            <a:r>
              <a:rPr lang="en-US" altLang="zh-CN" sz="1200" i="1" dirty="0">
                <a:solidFill>
                  <a:srgbClr val="000000"/>
                </a:solidFill>
                <a:latin typeface="ui-sans-serif"/>
              </a:rPr>
              <a:t> </a:t>
            </a:r>
            <a:r>
              <a:rPr lang="ru-RU" altLang="zh-CN" sz="1200" dirty="0"/>
              <a:t>Преобразование ограничивающего прямоугольника в вектор наблюдения фильтра Калмана</a:t>
            </a:r>
            <a:endParaRPr lang="en-US" altLang="zh-CN" sz="1200" i="1" dirty="0">
              <a:solidFill>
                <a:srgbClr val="000000"/>
              </a:solidFill>
              <a:latin typeface="ui-sans-serif"/>
            </a:endParaRPr>
          </a:p>
          <a:p>
            <a:pPr algn="l">
              <a:lnSpc>
                <a:spcPts val="1800"/>
              </a:lnSpc>
              <a:buNone/>
            </a:pPr>
            <a:endParaRPr lang="ru-RU" altLang="zh-CN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pPr>
              <a:lnSpc>
                <a:spcPts val="1800"/>
              </a:lnSpc>
            </a:pPr>
            <a:r>
              <a:rPr lang="ru-RU" altLang="zh-CN" sz="1200" dirty="0"/>
              <a:t>Шаг прогноза: предсказание состояния на следующий кадр по модели движения</a:t>
            </a:r>
            <a:endParaRPr lang="en-US" altLang="zh-CN" sz="1200" dirty="0"/>
          </a:p>
          <a:p>
            <a:pPr>
              <a:lnSpc>
                <a:spcPts val="1800"/>
              </a:lnSpc>
            </a:pPr>
            <a:endParaRPr lang="en-US" altLang="zh-CN" sz="1200" dirty="0"/>
          </a:p>
          <a:p>
            <a:pPr>
              <a:lnSpc>
                <a:spcPts val="1800"/>
              </a:lnSpc>
            </a:pPr>
            <a:r>
              <a:rPr lang="ru-RU" altLang="zh-CN" sz="1200" dirty="0"/>
              <a:t>Проекция предсказанного состояния в пространство наблюдений для дальнейшего обновления</a:t>
            </a:r>
            <a:endParaRPr lang="en-US" altLang="zh-CN" sz="1200" dirty="0"/>
          </a:p>
          <a:p>
            <a:pPr>
              <a:lnSpc>
                <a:spcPts val="1800"/>
              </a:lnSpc>
            </a:pPr>
            <a:endParaRPr lang="en-US" altLang="zh-CN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pPr>
              <a:lnSpc>
                <a:spcPts val="1800"/>
              </a:lnSpc>
            </a:pPr>
            <a:r>
              <a:rPr lang="ru-RU" altLang="zh-CN" sz="1200" dirty="0"/>
              <a:t>Шаг обновления фильтра Калмана: корректировка прогноза по новым наблюдениям</a:t>
            </a:r>
            <a:endParaRPr lang="en-US" altLang="zh-CN" sz="1200" dirty="0"/>
          </a:p>
          <a:p>
            <a:pPr>
              <a:lnSpc>
                <a:spcPts val="1800"/>
              </a:lnSpc>
            </a:pPr>
            <a:endParaRPr lang="ru-RU" altLang="zh-CN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None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mean: оптимальная оценка текущего состояния объекта (положение, скорость, соотношение сторон)</a:t>
            </a:r>
          </a:p>
          <a:p>
            <a:pPr algn="l">
              <a:lnSpc>
                <a:spcPts val="1800"/>
              </a:lnSpc>
              <a:buNone/>
            </a:pPr>
            <a:r>
              <a:rPr lang="ru-RU" altLang="zh-CN" sz="1200" b="0" dirty="0">
                <a:solidFill>
                  <a:srgbClr val="000000"/>
                </a:solidFill>
                <a:effectLst/>
                <a:latin typeface="ui-sans-serif"/>
              </a:rPr>
              <a:t>covariance: неопределенность текущего состояния, используется для прогноза на следующий кадр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2EA6CA-36C7-01D9-4438-49AEF4F5D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425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554C-ED5D-321D-9866-848A1DA1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CB1795-4C66-EC6B-CFDC-E33A12ACF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7ABBCD-B892-6127-8E7D-E2A5EE41A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页回顾：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Kalman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滤波提供了轨迹的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先验状态估计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x̂ₜ|ₜ₋₁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协方差矩阵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Pₜ|ₜ₋₁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页任务：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Kalman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预测的轨迹与当前帧检测结果进行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最优匹配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0F6826-0D91-E104-B1B5-DFD7504A1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943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E064-9D12-8357-B408-8D5F1DD3D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D20852-9DEC-1DB8-3D1F-6B38EE02E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5DAD99-707C-FC27-C62E-08BAEF08E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06C30-B4BF-B0BA-D5D5-6610A186D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071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8BCE-35B7-46BE-77A8-CA7BAD9C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AFE199-3A61-25A4-0B3F-1D672DB66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C8476D-6433-50A1-F502-61BEEA345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EC536-A2A3-DC10-009E-333E8F46F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399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1F6B-0D25-75C2-5FE2-1E417FAE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252D09-B1F7-CF48-D803-E1CA8F6AB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82B6BA-98C7-D58C-841A-D41E1D27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A03A0A-5CDA-F67D-4AA7-C578D08C0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838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2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84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1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1089869" y="2505553"/>
            <a:ext cx="10012261" cy="1923256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buNone/>
            </a:pPr>
            <a:r>
              <a:rPr lang="ru-RU" altLang="zh-CN" sz="2800" b="1" dirty="0">
                <a:solidFill>
                  <a:srgbClr val="FFFF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Исследование системы распознавания поведения пешеходов и предупреждения столкновений в системах помощи водителю на основе бортового зрения</a:t>
            </a:r>
            <a:endParaRPr lang="zh-CN" altLang="zh-CN" sz="1600" dirty="0">
              <a:solidFill>
                <a:srgbClr val="FFFFFF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42807" y="6073739"/>
            <a:ext cx="531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en-US" sz="24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2026 </a:t>
            </a:r>
            <a:r>
              <a:rPr lang="ru-RU" sz="24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г.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5EC88B-E177-D5F6-660C-5F2EE93DFFDD}"/>
              </a:ext>
            </a:extLst>
          </p:cNvPr>
          <p:cNvSpPr txBox="1"/>
          <p:nvPr/>
        </p:nvSpPr>
        <p:spPr>
          <a:xfrm>
            <a:off x="171888" y="346161"/>
            <a:ext cx="11834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zh-CN" dirty="0">
                <a:solidFill>
                  <a:schemeClr val="bg1"/>
                </a:solidFill>
              </a:rPr>
              <a:t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ru-RU" altLang="zh-CN" dirty="0">
                <a:solidFill>
                  <a:schemeClr val="bg1"/>
                </a:solidFill>
              </a:rPr>
              <a:t>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F5E5D8-720C-6EC5-2847-394235AB7971}"/>
              </a:ext>
            </a:extLst>
          </p:cNvPr>
          <p:cNvSpPr txBox="1"/>
          <p:nvPr/>
        </p:nvSpPr>
        <p:spPr>
          <a:xfrm>
            <a:off x="442807" y="1800327"/>
            <a:ext cx="67555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>
                <a:solidFill>
                  <a:schemeClr val="bg1">
                    <a:alpha val="50000"/>
                  </a:schemeClr>
                </a:solidFill>
              </a:rPr>
              <a:t>ФАКУЛЬТЕТ Специальное машиностроение </a:t>
            </a:r>
            <a:endParaRPr lang="en-US" altLang="zh-CN" sz="2000" b="1" dirty="0">
              <a:solidFill>
                <a:schemeClr val="bg1">
                  <a:alpha val="50000"/>
                </a:schemeClr>
              </a:solidFill>
            </a:endParaRPr>
          </a:p>
          <a:p>
            <a:r>
              <a:rPr lang="ru-RU" altLang="zh-CN" sz="2000" b="1" dirty="0">
                <a:solidFill>
                  <a:schemeClr val="bg1">
                    <a:alpha val="50000"/>
                  </a:schemeClr>
                </a:solidFill>
              </a:rPr>
              <a:t>КАФЕДРА Робототехнические системы и мехатроника</a:t>
            </a:r>
            <a:endParaRPr lang="zh-CN" altLang="en-US" sz="2000" b="1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C63824-C249-96C4-D67B-171B4B853498}"/>
              </a:ext>
            </a:extLst>
          </p:cNvPr>
          <p:cNvSpPr txBox="1"/>
          <p:nvPr/>
        </p:nvSpPr>
        <p:spPr>
          <a:xfrm>
            <a:off x="442807" y="49197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solidFill>
                  <a:schemeClr val="bg1"/>
                </a:solidFill>
              </a:rPr>
              <a:t>Студент СМ7И-23М     Чжан Юньда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ru-RU" altLang="zh-CN" dirty="0">
                <a:solidFill>
                  <a:schemeClr val="bg1"/>
                </a:solidFill>
              </a:rPr>
              <a:t>Руководитель             И.К.Романова Большакова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60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2B6D-1625-94F3-4B9A-3258C29F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D1DD544-6181-5686-3862-808FB7E23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DD00CBC3-05BF-82E5-EE6C-B2F27855770C}"/>
              </a:ext>
            </a:extLst>
          </p:cNvPr>
          <p:cNvSpPr/>
          <p:nvPr/>
        </p:nvSpPr>
        <p:spPr>
          <a:xfrm>
            <a:off x="0" y="0"/>
            <a:ext cx="12192000" cy="16589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CED554-78A7-B451-DE01-BD8F1440420D}"/>
              </a:ext>
            </a:extLst>
          </p:cNvPr>
          <p:cNvSpPr txBox="1"/>
          <p:nvPr/>
        </p:nvSpPr>
        <p:spPr>
          <a:xfrm>
            <a:off x="423110" y="566854"/>
            <a:ext cx="113457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8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Актуальность и Цель</a:t>
            </a:r>
            <a:endParaRPr lang="zh-CN" altLang="zh-CN" sz="28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4" descr="What is Pedestrian Collision Warning?,Icarvisions.com">
            <a:extLst>
              <a:ext uri="{FF2B5EF4-FFF2-40B4-BE49-F238E27FC236}">
                <a16:creationId xmlns:a16="http://schemas.microsoft.com/office/drawing/2014/main" id="{7D920F71-7864-F68B-84C9-F200618EF7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C73845-2E18-4B2E-AA9B-C6B6C6481880}"/>
              </a:ext>
            </a:extLst>
          </p:cNvPr>
          <p:cNvSpPr txBox="1"/>
          <p:nvPr/>
        </p:nvSpPr>
        <p:spPr>
          <a:xfrm>
            <a:off x="423110" y="1900316"/>
            <a:ext cx="11251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/>
            <a:r>
              <a:rPr lang="ru-RU" altLang="zh-CN" sz="2400" dirty="0"/>
              <a:t>В сложных дорожных условиях сложно прогнозировать намерения пешеходов. Основные традиционные алгоритмы обнаружения объектов теряют надёжность при перекрытиях и изменении освещённости. Пешеходы являются наиболее уязвимой категорией участников дорожного движения, а риск дорожно-транспортных происшествий в городских районах остаётся высоким.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8C255E-687E-9C00-0338-CBEF3DF4F2AC}"/>
              </a:ext>
            </a:extLst>
          </p:cNvPr>
          <p:cNvSpPr txBox="1"/>
          <p:nvPr/>
        </p:nvSpPr>
        <p:spPr>
          <a:xfrm>
            <a:off x="423110" y="4032296"/>
            <a:ext cx="113457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altLang="zh-CN" sz="2400" b="1" dirty="0">
                <a:solidFill>
                  <a:srgbClr val="000000"/>
                </a:solidFill>
                <a:effectLst/>
                <a:latin typeface="ui-sans-serif"/>
              </a:rPr>
              <a:t>Основная цель</a:t>
            </a:r>
            <a:endParaRPr lang="en-US" altLang="zh-CN" sz="2400" b="1" dirty="0">
              <a:solidFill>
                <a:srgbClr val="000000"/>
              </a:solidFill>
              <a:effectLst/>
              <a:latin typeface="ui-sans-serif"/>
            </a:endParaRPr>
          </a:p>
          <a:p>
            <a:pPr>
              <a:buNone/>
            </a:pPr>
            <a:endParaRPr lang="ru-RU" altLang="zh-CN" sz="2400" dirty="0"/>
          </a:p>
          <a:p>
            <a:pPr indent="457200" algn="just">
              <a:buNone/>
            </a:pPr>
            <a:r>
              <a:rPr lang="ru-RU" altLang="zh-CN" sz="2400" dirty="0"/>
              <a:t>Создать бортовую визуальную систему с повышенной точностью, высокой надёжностью и устойчивым многократноцелевым отслеживанием объектов.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5278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CFE7-A9F4-314A-7CAA-8E8D024B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869051-D579-C467-3543-2CA703FD4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69E3D5-5D95-66F1-AB3F-431E0EA5099C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06F992C-49F0-D85E-4732-96CAB788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5" y="148287"/>
            <a:ext cx="11205137" cy="70850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Основные исследовательские задачи текущего семестра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A7388F-5282-3B0F-0F0C-2A17079DB7AD}"/>
              </a:ext>
            </a:extLst>
          </p:cNvPr>
          <p:cNvSpPr txBox="1"/>
          <p:nvPr/>
        </p:nvSpPr>
        <p:spPr>
          <a:xfrm>
            <a:off x="628650" y="1859340"/>
            <a:ext cx="10732105" cy="3327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altLang="zh-CN" sz="2000" dirty="0"/>
              <a:t>Определить эксплуатационные условия бортовой системы, выбрать и оптимизировать нейронную сеть YOLOX для повышения точности и скорости обнаружения пешеходов. </a:t>
            </a:r>
            <a:endParaRPr lang="en-US" altLang="zh-CN" sz="2000" dirty="0"/>
          </a:p>
          <a:p>
            <a:pPr marL="457200" indent="-45720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altLang="zh-CN" sz="2000" dirty="0"/>
              <a:t>Спроектировать подсистему визуального восприятия, интегрировать наборы данных JAAD и MOT17, создать отказоустойчивый детектор с каскадным переключением моделей по схеме YOLOX → YOLOv8 → HOG+SVM. </a:t>
            </a:r>
            <a:endParaRPr lang="en-US" altLang="zh-CN" sz="2000" dirty="0"/>
          </a:p>
          <a:p>
            <a:pPr marL="457200" indent="-45720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altLang="zh-CN" sz="2000" dirty="0"/>
              <a:t>Разработать отказоустойчивую модель отслеживания пешеходов на основе фильтра Калмана и алгоритма BYTETrack для сокращения числа смен идентификаторов целей.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974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8535-979F-BB53-8DC7-F4B1E7CA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C2DC538-797A-7047-9685-36298758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04C6951-BBFD-F82C-E5F3-4F5E6BC648FD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1F657C3-7114-577C-330E-7696FFA0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8113244" cy="7085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Базовые наборы данных: MOT17 и JAAD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24CC4-0277-9790-7496-DF560097C2BC}"/>
              </a:ext>
            </a:extLst>
          </p:cNvPr>
          <p:cNvSpPr txBox="1"/>
          <p:nvPr/>
        </p:nvSpPr>
        <p:spPr>
          <a:xfrm>
            <a:off x="6236971" y="1314147"/>
            <a:ext cx="6115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/>
              <a:t>Набор данных </a:t>
            </a:r>
            <a:r>
              <a:rPr lang="en-US" altLang="zh-CN" sz="2000" b="1" dirty="0"/>
              <a:t>JAAD</a:t>
            </a:r>
            <a:endParaRPr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E1F9E1-E7C3-7FEF-E713-129C8AB05B59}"/>
              </a:ext>
            </a:extLst>
          </p:cNvPr>
          <p:cNvSpPr txBox="1"/>
          <p:nvPr/>
        </p:nvSpPr>
        <p:spPr>
          <a:xfrm>
            <a:off x="356386" y="1329536"/>
            <a:ext cx="6115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b="1" dirty="0"/>
              <a:t>Набор данных </a:t>
            </a:r>
            <a:r>
              <a:rPr lang="en-US" altLang="zh-CN" sz="2000" b="1" dirty="0"/>
              <a:t>MOT17</a:t>
            </a:r>
            <a:endParaRPr lang="zh-CN" altLang="en-US" sz="20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F896CB-7723-B314-CD07-3130F30CB398}"/>
              </a:ext>
            </a:extLst>
          </p:cNvPr>
          <p:cNvSpPr txBox="1"/>
          <p:nvPr/>
        </p:nvSpPr>
        <p:spPr>
          <a:xfrm>
            <a:off x="6236971" y="1832661"/>
            <a:ext cx="55072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dirty="0"/>
              <a:t>Набор данных JAAD включает 346 видеофрагментов с 2000+ пешеходов (5–10 с каждый), охватывая городские улицы, автомагистрали и парки. Содержит детальную разметку поведения: состояние пешеходов, жесты, взгляды и сигналы светофоров. Формат .mp4 подходит для тестирования поведенческого прогнозирования и инференса системы в реальном времени.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7CAFCB8-C575-50DE-6226-B7AA15634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971" y="4431922"/>
            <a:ext cx="5507205" cy="2074626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A60028A-3D65-66E0-C716-1A818662CEA1}"/>
              </a:ext>
            </a:extLst>
          </p:cNvPr>
          <p:cNvCxnSpPr>
            <a:cxnSpLocks/>
          </p:cNvCxnSpPr>
          <p:nvPr/>
        </p:nvCxnSpPr>
        <p:spPr>
          <a:xfrm>
            <a:off x="6000750" y="1588770"/>
            <a:ext cx="0" cy="4594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7D8BEB2-12AE-D7C2-5ABE-F58FD3208CA2}"/>
              </a:ext>
            </a:extLst>
          </p:cNvPr>
          <p:cNvSpPr txBox="1"/>
          <p:nvPr/>
        </p:nvSpPr>
        <p:spPr>
          <a:xfrm>
            <a:off x="342023" y="1820261"/>
            <a:ext cx="53167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zh-CN" dirty="0"/>
              <a:t>Набор данных MOT17 включает 14 высокоразрешающих последовательностей с разделением на обучающую и тестовую выборки, охватывая городские перекрестки и площади. Подходит для тестирования алгоритмов при окклюзии, смещениях изображения и сложных движениях целей. Содержит необработанные кадры и gt.txt для расчета ID Switch и непрерывности траекторий.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24665A7-3EF9-3B74-B9C5-A78EB0194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36" y="4496199"/>
            <a:ext cx="5507204" cy="201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47B3-01E0-46B3-47D1-8BD4A607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F65BAF6-87D3-9FB7-A6EC-88CDB16F6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7753FB-C583-48C7-CC38-8F495AEE0EDB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25DEB36-19FB-BD70-F3C0-4A078E0B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9789696" cy="70850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Стандартизированный конвейер обработки данных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C820B3-2A7C-3EEA-56E9-230DE5ADBA94}"/>
              </a:ext>
            </a:extLst>
          </p:cNvPr>
          <p:cNvSpPr txBox="1"/>
          <p:nvPr/>
        </p:nvSpPr>
        <p:spPr>
          <a:xfrm>
            <a:off x="356385" y="1496138"/>
            <a:ext cx="101780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000" dirty="0"/>
              <a:t>Осуществляет унифицированное преобразование гетерогенных входных данных (видеофайлов и последовательностей изображений) в стандартизированные пары тензор — временная метка для последующего использования модулями детектирования и отслеживания объектов.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E58DA3B-098C-1299-D41C-181DB7605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5" y="3128649"/>
            <a:ext cx="6160481" cy="330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8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BE13-4BA4-BA8B-6BAA-0A595CCA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9F6DCA-0DD8-B155-1DFF-CF70C7AD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2E6942E-C7AF-E7D7-4B9F-003091C36A77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9714808-860F-D968-342C-1E596A108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3" y="125730"/>
            <a:ext cx="11875087" cy="9144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Основной детектор на основе архитектуры YOLO с многоуровневой отказоустойчивой архитектурой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596242-5B36-C862-6F30-01524ED80DA1}"/>
              </a:ext>
            </a:extLst>
          </p:cNvPr>
          <p:cNvSpPr txBox="1"/>
          <p:nvPr/>
        </p:nvSpPr>
        <p:spPr>
          <a:xfrm>
            <a:off x="396582" y="1734011"/>
            <a:ext cx="3946153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b="1" dirty="0"/>
              <a:t>Основной детектор: </a:t>
            </a:r>
            <a:r>
              <a:rPr lang="en-US" altLang="zh-CN" b="1" dirty="0"/>
              <a:t>YOLOX</a:t>
            </a:r>
          </a:p>
          <a:p>
            <a:endParaRPr lang="en-US" altLang="zh-CN" sz="500" b="1" dirty="0"/>
          </a:p>
          <a:p>
            <a:r>
              <a:rPr lang="ru-RU" altLang="zh-CN" b="1" dirty="0"/>
              <a:t>Безъякорная архитектура (Anchor-free) </a:t>
            </a:r>
            <a:r>
              <a:rPr lang="ru-RU" altLang="zh-CN" dirty="0"/>
              <a:t>– снижает вычислительную нагрузку, оптимизирована для бортовых автомобильных платформ. </a:t>
            </a:r>
            <a:r>
              <a:rPr lang="ru-RU" altLang="zh-CN" b="1" dirty="0"/>
              <a:t>Развязанная детектирующая головка (Decoupled Head) </a:t>
            </a:r>
            <a:r>
              <a:rPr lang="ru-RU" altLang="zh-CN" dirty="0"/>
              <a:t>– разделяет задачи классификации и регрессии, повышает точность детектирования. </a:t>
            </a:r>
            <a:r>
              <a:rPr lang="ru-RU" altLang="zh-CN" b="1" dirty="0"/>
              <a:t>Алгоритм SimOTA </a:t>
            </a:r>
            <a:r>
              <a:rPr lang="ru-RU" altLang="zh-CN" dirty="0"/>
              <a:t>– реализует динамическое распределение положительных образцов, исключает ручную настройку гиперпараметров модели.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2E59589-E86E-91E1-92CF-73DDB126D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873" y="1468423"/>
            <a:ext cx="6093180" cy="16956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0C1E420-208E-04AF-B808-1CAB7D65EB76}"/>
              </a:ext>
            </a:extLst>
          </p:cNvPr>
          <p:cNvSpPr txBox="1"/>
          <p:nvPr/>
        </p:nvSpPr>
        <p:spPr>
          <a:xfrm>
            <a:off x="5543550" y="30596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/>
              <a:t>Структура нейронной сети детектора объектов YOLOX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3133BEC-2DD2-3FA4-11BB-BB601F5D3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35" y="3562434"/>
            <a:ext cx="4924655" cy="213443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8A478D6-5CC5-D69C-7437-25DE2B845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52" y="5696864"/>
            <a:ext cx="6094325" cy="116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2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808A-6960-CDB4-C496-637F263C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6A64370-C7A5-2EA5-7C74-1D3961B96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  <a:effectLst>
            <a:outerShdw dist="50800" dir="5400000" algn="ctr" rotWithShape="0">
              <a:schemeClr val="bg1"/>
            </a:outerShdw>
            <a:reflection endPos="0" dir="5400000" sy="-100000" algn="bl" rotWithShape="0"/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D0B80FC-CB10-ED0F-206E-F45ACFAF5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662" y="5220409"/>
            <a:ext cx="5882467" cy="1618926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alpha val="7000"/>
              </a:schemeClr>
            </a:outerShdw>
            <a:reflection endPos="0" dist="50800" dir="5400000" sy="-100000" algn="bl" rotWithShape="0"/>
          </a:effec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915A68-A68A-6908-6787-874BCFD854FD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3D14A2D-DCB9-FBA5-2A8A-648E4F6F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11119334" cy="70850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Моделирование на основе фильтра Калмана (динамическая оценка состояния)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9F0828-EAE4-5418-499F-AE80EB19B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96" y="1165860"/>
            <a:ext cx="5978300" cy="149605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470F6B9-E77F-22DB-EF86-D26F9A80D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696" y="2661920"/>
            <a:ext cx="5946307" cy="7670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B6761FA-AFE2-177B-0A30-2528A8D48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3554" y="3428916"/>
            <a:ext cx="3048425" cy="43821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A3D8E47-4B90-535D-A23B-82BD6B880594}"/>
              </a:ext>
            </a:extLst>
          </p:cNvPr>
          <p:cNvSpPr txBox="1"/>
          <p:nvPr/>
        </p:nvSpPr>
        <p:spPr>
          <a:xfrm>
            <a:off x="104446" y="3497795"/>
            <a:ext cx="209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/>
              <a:t>Вектор состояния</a:t>
            </a:r>
            <a:r>
              <a:rPr lang="zh-CN" altLang="en-US" dirty="0"/>
              <a:t>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353831-F869-7AEE-2DE9-2463F80AF916}"/>
              </a:ext>
            </a:extLst>
          </p:cNvPr>
          <p:cNvSpPr txBox="1"/>
          <p:nvPr/>
        </p:nvSpPr>
        <p:spPr>
          <a:xfrm>
            <a:off x="133696" y="4056672"/>
            <a:ext cx="58532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В задачах отслеживания объектов на основе фильтра Калмана обычно используют 8-мерный вектор состояния: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9C08CD2-27BD-40A1-84F7-42856293BE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6932"/>
          <a:stretch>
            <a:fillRect/>
          </a:stretch>
        </p:blipFill>
        <p:spPr>
          <a:xfrm>
            <a:off x="133696" y="4892548"/>
            <a:ext cx="1562274" cy="188649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2238E09-080D-93EB-2E8D-0F16FA9880C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4422"/>
          <a:stretch>
            <a:fillRect/>
          </a:stretch>
        </p:blipFill>
        <p:spPr>
          <a:xfrm>
            <a:off x="1963554" y="4930462"/>
            <a:ext cx="1488590" cy="1014025"/>
          </a:xfrm>
          <a:prstGeom prst="rect">
            <a:avLst/>
          </a:prstGeom>
        </p:spPr>
      </p:pic>
      <p:sp>
        <p:nvSpPr>
          <p:cNvPr id="26" name="箭头: 右 25">
            <a:extLst>
              <a:ext uri="{FF2B5EF4-FFF2-40B4-BE49-F238E27FC236}">
                <a16:creationId xmlns:a16="http://schemas.microsoft.com/office/drawing/2014/main" id="{A3E525C6-C767-1ED3-D779-B3A45234A6A1}"/>
              </a:ext>
            </a:extLst>
          </p:cNvPr>
          <p:cNvSpPr/>
          <p:nvPr/>
        </p:nvSpPr>
        <p:spPr>
          <a:xfrm>
            <a:off x="3525467" y="5835795"/>
            <a:ext cx="411134" cy="19050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A669EE4-05F7-6669-E399-C9F66FCA3B6D}"/>
              </a:ext>
            </a:extLst>
          </p:cNvPr>
          <p:cNvSpPr txBox="1"/>
          <p:nvPr/>
        </p:nvSpPr>
        <p:spPr>
          <a:xfrm>
            <a:off x="6360795" y="1172309"/>
            <a:ext cx="3686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400" dirty="0"/>
              <a:t>Переходная матрица состояний F (модель движения)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BF2C7F-C0E4-6A5B-61F4-B085ED43D6FC}"/>
              </a:ext>
            </a:extLst>
          </p:cNvPr>
          <p:cNvSpPr txBox="1"/>
          <p:nvPr/>
        </p:nvSpPr>
        <p:spPr>
          <a:xfrm>
            <a:off x="6359405" y="2522240"/>
            <a:ext cx="2760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400" dirty="0"/>
              <a:t>Матрица наблюдения H (модель наблюдения)</a:t>
            </a:r>
            <a:endParaRPr lang="zh-CN" altLang="en-US" sz="14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A61BD6D-1168-A76C-79B1-D0C33EED01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068" y="1729058"/>
            <a:ext cx="5493758" cy="793131"/>
          </a:xfrm>
          <a:prstGeom prst="rect">
            <a:avLst/>
          </a:prstGeom>
        </p:spPr>
      </p:pic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626C103-F929-E39D-C754-5DB0615DA99B}"/>
              </a:ext>
            </a:extLst>
          </p:cNvPr>
          <p:cNvCxnSpPr>
            <a:cxnSpLocks/>
          </p:cNvCxnSpPr>
          <p:nvPr/>
        </p:nvCxnSpPr>
        <p:spPr>
          <a:xfrm>
            <a:off x="6235700" y="1289050"/>
            <a:ext cx="0" cy="3603498"/>
          </a:xfrm>
          <a:prstGeom prst="line">
            <a:avLst/>
          </a:prstGeom>
          <a:ln w="28575">
            <a:solidFill>
              <a:schemeClr val="bg2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26485137-5800-3455-9204-651CCE520F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2645" y="1165860"/>
            <a:ext cx="1678162" cy="54690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D6F8F41-1643-5D2B-2689-EEC234BE32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5025" y="2555718"/>
            <a:ext cx="1207408" cy="402469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1AB38BC-9BFE-70BB-5AC1-017A9C0DF6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2068" y="3141922"/>
            <a:ext cx="3951858" cy="301878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9AEFDB44-7947-1849-DB01-96DB5C786E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068" y="3723884"/>
            <a:ext cx="3885936" cy="1355911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3273A43C-ED7E-5BF7-CBD3-024328C819FB}"/>
              </a:ext>
            </a:extLst>
          </p:cNvPr>
          <p:cNvSpPr txBox="1"/>
          <p:nvPr/>
        </p:nvSpPr>
        <p:spPr>
          <a:xfrm>
            <a:off x="6360795" y="3436708"/>
            <a:ext cx="31999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400" dirty="0"/>
              <a:t>Прогнозирование состояния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085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D4B9-2199-A7D2-502B-AF1A6408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D63641-47F2-E2C1-2C5E-FD8B75F0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  <a:effectLst>
            <a:outerShdw dist="50800" dir="5400000" algn="ctr" rotWithShape="0">
              <a:schemeClr val="bg1"/>
            </a:outerShdw>
            <a:reflection endPos="0" dir="5400000" sy="-100000" algn="bl" rotWithShape="0"/>
          </a:effec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DFFFD3-71FA-2FAA-CFDC-8EE659708917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CC6BE16-9ACD-22A6-029B-E5A309B4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11119334" cy="70850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Моделирование на основе фильтра Калмана (Рекурсивная структура «прогноз – обновление»)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E6FCD8-E7F8-47B7-AA69-A1FB50ADC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86" y="1279070"/>
            <a:ext cx="3305412" cy="554385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80229DD-569B-29A0-4FA5-2174A9873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584" y="2349429"/>
            <a:ext cx="7680413" cy="2753965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82D58E09-704B-91B5-6E04-D7DDA167FB40}"/>
              </a:ext>
            </a:extLst>
          </p:cNvPr>
          <p:cNvSpPr txBox="1"/>
          <p:nvPr/>
        </p:nvSpPr>
        <p:spPr>
          <a:xfrm>
            <a:off x="6535103" y="5301734"/>
            <a:ext cx="6166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/>
              <a:t>Рекурсивная схема фильтра Калмана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497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54DE6-6A50-529F-EEA8-883C5499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F3A02FB-7370-D09C-133A-54349829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AF4BF9-56F6-2141-C95E-AD910EEE2159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706A8D2-3E9B-4764-F80C-0CEF61A6B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8936204" cy="70850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Стратегия ассоциации данных в Byte</a:t>
            </a:r>
            <a:r>
              <a:rPr lang="en-US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- </a:t>
            </a: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Track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3E8021-9DCA-7DB0-5D8B-F5C38CA31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2893"/>
            <a:ext cx="5311640" cy="53551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1E268F3-4A23-17B5-E37D-1492335A2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070" y="1341282"/>
            <a:ext cx="7059930" cy="4992724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98A64D3-1085-8F5D-7168-570F9F1F587F}"/>
              </a:ext>
            </a:extLst>
          </p:cNvPr>
          <p:cNvCxnSpPr>
            <a:cxnSpLocks/>
          </p:cNvCxnSpPr>
          <p:nvPr/>
        </p:nvCxnSpPr>
        <p:spPr>
          <a:xfrm flipV="1">
            <a:off x="3886200" y="4256116"/>
            <a:ext cx="1957647" cy="84928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3A45A64-28B9-A10D-0CE0-89E2FF4A61BF}"/>
              </a:ext>
            </a:extLst>
          </p:cNvPr>
          <p:cNvSpPr txBox="1"/>
          <p:nvPr/>
        </p:nvSpPr>
        <p:spPr>
          <a:xfrm>
            <a:off x="6235065" y="6340381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</a:t>
            </a:r>
            <a:r>
              <a:rPr lang="ru-RU" altLang="zh-CN" dirty="0"/>
              <a:t>етод ассоциации данных, основанного на BYTE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048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D35D-16E3-B54D-DC79-29D02FD7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E5BDCA0-FA52-D0D9-CF03-79C6305B5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F135284-35F5-CDDF-81C5-6B158F57F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083" y="2801937"/>
            <a:ext cx="5600035" cy="3960298"/>
          </a:xfrm>
          <a:prstGeom prst="rect">
            <a:avLst/>
          </a:prstGeom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BE9A5194-7B62-D02E-549A-BD747AB1A90F}"/>
              </a:ext>
            </a:extLst>
          </p:cNvPr>
          <p:cNvSpPr/>
          <p:nvPr/>
        </p:nvSpPr>
        <p:spPr>
          <a:xfrm>
            <a:off x="3546460" y="2893854"/>
            <a:ext cx="901700" cy="527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6FC3C10-B8E1-6352-46A3-150AF2029517}"/>
              </a:ext>
            </a:extLst>
          </p:cNvPr>
          <p:cNvSpPr/>
          <p:nvPr/>
        </p:nvSpPr>
        <p:spPr>
          <a:xfrm>
            <a:off x="127000" y="2902516"/>
            <a:ext cx="952500" cy="469900"/>
          </a:xfrm>
          <a:prstGeom prst="ellipse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8894BB-5539-90DB-1611-798DC7AA751B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36ABBCB-9CED-F45C-B66F-3F96580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8707604" cy="7085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altLang="zh-CN" sz="24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Стратегия ассоциации данных в Byte</a:t>
            </a:r>
            <a:r>
              <a:rPr lang="en-US" altLang="zh-CN" sz="24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- </a:t>
            </a:r>
            <a:r>
              <a:rPr lang="ru-RU" altLang="zh-CN" sz="24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Track</a:t>
            </a:r>
            <a:endParaRPr lang="zh-CN" altLang="en-US" sz="25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DB8261E-C39F-5ED3-EAF4-226F15F04877}"/>
                  </a:ext>
                </a:extLst>
              </p:cNvPr>
              <p:cNvSpPr txBox="1"/>
              <p:nvPr/>
            </p:nvSpPr>
            <p:spPr>
              <a:xfrm>
                <a:off x="-450457" y="2013901"/>
                <a:ext cx="10321289" cy="439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где 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 — 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координаты, а 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 — 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уверенность сети[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cite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DB8261E-C39F-5ED3-EAF4-226F15F04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0457" y="2013901"/>
                <a:ext cx="10321289" cy="439800"/>
              </a:xfrm>
              <a:prstGeom prst="rect">
                <a:avLst/>
              </a:prstGeom>
              <a:blipFill>
                <a:blip r:embed="rId5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157EA9FC-C1AB-F142-8E03-E15103345794}"/>
              </a:ext>
            </a:extLst>
          </p:cNvPr>
          <p:cNvSpPr txBox="1"/>
          <p:nvPr/>
        </p:nvSpPr>
        <p:spPr>
          <a:xfrm>
            <a:off x="217170" y="1225865"/>
            <a:ext cx="12070080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altLang="zh-CN" b="0" dirty="0">
                <a:solidFill>
                  <a:srgbClr val="000000"/>
                </a:solidFill>
                <a:effectLst/>
                <a:latin typeface="ui-sans-serif"/>
              </a:rPr>
              <a:t>На каждом входном видеокадре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It </a:t>
            </a:r>
            <a:r>
              <a:rPr lang="ru-RU" altLang="zh-CN" b="0" dirty="0">
                <a:solidFill>
                  <a:srgbClr val="000000"/>
                </a:solidFill>
                <a:effectLst/>
                <a:latin typeface="ui-sans-serif"/>
              </a:rPr>
              <a:t>детектор объектов выдаёт набор двумерных ограничивающих прямоугольников.</a:t>
            </a:r>
          </a:p>
          <a:p>
            <a:pPr algn="l">
              <a:lnSpc>
                <a:spcPts val="1800"/>
              </a:lnSpc>
              <a:buNone/>
            </a:pPr>
            <a:r>
              <a:rPr lang="ru-RU" altLang="zh-CN" b="0" dirty="0">
                <a:solidFill>
                  <a:srgbClr val="000000"/>
                </a:solidFill>
                <a:effectLst/>
                <a:latin typeface="ui-sans-serif"/>
              </a:rPr>
              <a:t>Основная идея ByteTrack заключается в том, что все результаты детектирования рассматриваются как непрерывное сигнальное пространство, которое с помощью двух пороговых значений разделяется на две части.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8801683-9783-25BE-F7A0-E59120D3CAC5}"/>
                  </a:ext>
                </a:extLst>
              </p:cNvPr>
              <p:cNvSpPr txBox="1"/>
              <p:nvPr/>
            </p:nvSpPr>
            <p:spPr>
              <a:xfrm>
                <a:off x="0" y="2893854"/>
                <a:ext cx="7994620" cy="707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 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 ；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m:rPr>
                        <m:lit/>
                      </m:rPr>
                      <a:rPr lang="zh-CN" alt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/>
                <a:endParaRPr lang="zh-CN" alt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8801683-9783-25BE-F7A0-E59120D3C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93854"/>
                <a:ext cx="7994620" cy="707822"/>
              </a:xfrm>
              <a:prstGeom prst="rect">
                <a:avLst/>
              </a:prstGeom>
              <a:blipFill>
                <a:blip r:embed="rId6"/>
                <a:stretch>
                  <a:fillRect l="-610" t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A12F27B-1AC1-D6E8-5122-A9C981865A18}"/>
              </a:ext>
            </a:extLst>
          </p:cNvPr>
          <p:cNvCxnSpPr>
            <a:cxnSpLocks/>
          </p:cNvCxnSpPr>
          <p:nvPr/>
        </p:nvCxnSpPr>
        <p:spPr>
          <a:xfrm>
            <a:off x="603250" y="3372416"/>
            <a:ext cx="585470" cy="725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7B2A416-3D23-73CC-9F85-50A5D8A9B4F7}"/>
              </a:ext>
            </a:extLst>
          </p:cNvPr>
          <p:cNvSpPr txBox="1"/>
          <p:nvPr/>
        </p:nvSpPr>
        <p:spPr>
          <a:xfrm>
            <a:off x="217170" y="4098270"/>
            <a:ext cx="29967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400" dirty="0"/>
              <a:t>Выполняется сопоставление с существующими предсказанными траекториями.</a:t>
            </a:r>
            <a:endParaRPr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86C9D6-D4D4-ECD7-E11F-449B90D0191A}"/>
              </a:ext>
            </a:extLst>
          </p:cNvPr>
          <p:cNvSpPr txBox="1"/>
          <p:nvPr/>
        </p:nvSpPr>
        <p:spPr>
          <a:xfrm>
            <a:off x="217170" y="2454566"/>
            <a:ext cx="6367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1" dirty="0">
                <a:solidFill>
                  <a:srgbClr val="000000"/>
                </a:solidFill>
                <a:effectLst/>
                <a:latin typeface="ui-sans-serif"/>
              </a:rPr>
              <a:t>Dt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ru-RU" altLang="zh-CN" sz="1600" dirty="0"/>
              <a:t> Множество детекций на кадре </a:t>
            </a:r>
            <a:r>
              <a:rPr lang="en-US" altLang="zh-CN" sz="1600" i="1" dirty="0"/>
              <a:t>t</a:t>
            </a:r>
            <a:endParaRPr lang="zh-CN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75635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D1B7-62FD-49C9-A439-055DDF68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B160108-DE3F-D6B5-529E-82D42CBD9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AC8572F-4D42-9F7C-ACBF-D38387E3691D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47B194C-0034-5070-B95B-553E4FE2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5" y="148287"/>
            <a:ext cx="8114284" cy="7085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altLang="zh-CN" sz="2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Результаты и анализ экспериментов</a:t>
            </a:r>
            <a:endParaRPr lang="zh-CN" altLang="en-US" sz="26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781A4D-BABD-229B-43BB-0738DA268837}"/>
              </a:ext>
            </a:extLst>
          </p:cNvPr>
          <p:cNvSpPr txBox="1"/>
          <p:nvPr/>
        </p:nvSpPr>
        <p:spPr>
          <a:xfrm>
            <a:off x="433385" y="1513508"/>
            <a:ext cx="3027911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altLang="zh-CN" sz="1400" b="1" dirty="0">
                <a:solidFill>
                  <a:srgbClr val="0F1115"/>
                </a:solidFill>
                <a:effectLst/>
                <a:latin typeface="quote-cjk-patch"/>
              </a:rPr>
              <a:t>1. Качество трекинга: пространственные траектории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43D312-FD9C-407B-C176-1D01AC172089}"/>
              </a:ext>
            </a:extLst>
          </p:cNvPr>
          <p:cNvSpPr txBox="1"/>
          <p:nvPr/>
        </p:nvSpPr>
        <p:spPr>
          <a:xfrm>
            <a:off x="4345673" y="1673077"/>
            <a:ext cx="2803904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altLang="zh-CN" sz="1400" b="1" dirty="0">
                <a:solidFill>
                  <a:srgbClr val="0F1115"/>
                </a:solidFill>
                <a:effectLst/>
                <a:latin typeface="quote-cjk-patch"/>
              </a:rPr>
              <a:t>2. Адаптация к плотности сцены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8D98D-2DFA-88B3-768C-B8F15A6707CD}"/>
              </a:ext>
            </a:extLst>
          </p:cNvPr>
          <p:cNvSpPr txBox="1"/>
          <p:nvPr/>
        </p:nvSpPr>
        <p:spPr>
          <a:xfrm>
            <a:off x="8203410" y="1682454"/>
            <a:ext cx="3650381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altLang="zh-CN" sz="1400" b="1" dirty="0">
                <a:solidFill>
                  <a:srgbClr val="0F1115"/>
                </a:solidFill>
                <a:effectLst/>
                <a:latin typeface="quote-cjk-patch"/>
              </a:rPr>
              <a:t>3. Производительность (</a:t>
            </a:r>
            <a:r>
              <a:rPr lang="en-US" altLang="zh-CN" sz="1400" b="1" dirty="0">
                <a:solidFill>
                  <a:srgbClr val="0F1115"/>
                </a:solidFill>
                <a:effectLst/>
                <a:latin typeface="quote-cjk-patch"/>
              </a:rPr>
              <a:t>FPS)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40DFB00-AC2A-202B-778E-AADDBD32A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11" y="2416000"/>
            <a:ext cx="3191569" cy="19056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974E69C-FC21-AB96-C5C6-4C52A82A0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673" y="2394235"/>
            <a:ext cx="3312427" cy="204500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2A41AD9-74E3-D97A-DD03-0C1C6AB13B60}"/>
              </a:ext>
            </a:extLst>
          </p:cNvPr>
          <p:cNvSpPr txBox="1"/>
          <p:nvPr/>
        </p:nvSpPr>
        <p:spPr>
          <a:xfrm>
            <a:off x="493511" y="4675079"/>
            <a:ext cx="3344375" cy="176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Построены диаграммы траекторий движения пешеходов.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Разные цвета = разные Track ID.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Траектории </a:t>
            </a:r>
            <a:r>
              <a:rPr lang="ru-RU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гладкие и непрерывные</a:t>
            </a:r>
            <a:r>
              <a:rPr lang="ru-RU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благодаря фильтру Калмана (8-мерный вектор состояния).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Подтверждена устойчивость к тряске камеры и шумам движения.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8F03D5-65D2-A7B9-2B50-307E11273632}"/>
              </a:ext>
            </a:extLst>
          </p:cNvPr>
          <p:cNvSpPr txBox="1"/>
          <p:nvPr/>
        </p:nvSpPr>
        <p:spPr>
          <a:xfrm>
            <a:off x="4413527" y="4697922"/>
            <a:ext cx="2803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F1115"/>
                </a:solidFill>
                <a:latin typeface="quote-cjk-patch"/>
              </a:rPr>
              <a:t>Построена кривая количества активных пешеходов в кадре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.</a:t>
            </a:r>
            <a:endParaRPr lang="ru-RU" altLang="zh-CN" sz="1200" dirty="0">
              <a:solidFill>
                <a:srgbClr val="0F1115"/>
              </a:solidFill>
              <a:latin typeface="quote-cjk-patch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F1115"/>
                </a:solidFill>
                <a:latin typeface="quote-cjk-patch"/>
              </a:rPr>
              <a:t>Кривая отражает появление, исчезновение и перекрытие объектов.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F1115"/>
                </a:solidFill>
                <a:latin typeface="quote-cjk-patch"/>
              </a:rPr>
              <a:t>Система устойчива при окклюзиях и изменении плотности потока.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75C6DF-8572-F5A7-B370-378734D21158}"/>
              </a:ext>
            </a:extLst>
          </p:cNvPr>
          <p:cNvSpPr txBox="1"/>
          <p:nvPr/>
        </p:nvSpPr>
        <p:spPr>
          <a:xfrm>
            <a:off x="8361821" y="4697922"/>
            <a:ext cx="3178256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zh-CN" sz="1200" i="0" dirty="0">
                <a:solidFill>
                  <a:srgbClr val="0F1115"/>
                </a:solidFill>
                <a:effectLst/>
                <a:latin typeface="quote-cjk-patch"/>
              </a:rPr>
              <a:t>Средняя частота кадров: ~31.8 FPS (Рис. 8).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altLang="zh-CN" sz="1200" i="0" dirty="0">
                <a:solidFill>
                  <a:srgbClr val="0F1115"/>
                </a:solidFill>
                <a:effectLst/>
                <a:latin typeface="quote-cjk-patch"/>
              </a:rPr>
              <a:t>При высокой плотности и окклюзиях наблюдаются локальные снижения FPS.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C673D7D-3ED5-B3E3-5A50-A4F49F035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142" y="2233392"/>
            <a:ext cx="3493605" cy="22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3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E0D2-AC66-C0E8-F931-3F8F5B1F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CBF12E-5AF1-FEEE-C98A-504B2E0A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32105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33D224D-79B0-1423-B9D1-7C6D8DCE1EDA}"/>
              </a:ext>
            </a:extLst>
          </p:cNvPr>
          <p:cNvSpPr/>
          <p:nvPr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459233C-074B-A1D7-E8B8-56321B72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6" y="148287"/>
            <a:ext cx="5308218" cy="7085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altLang="zh-CN" sz="25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Заключение</a:t>
            </a:r>
            <a:endParaRPr lang="zh-CN" altLang="en-US" sz="2500" b="1" cap="all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CAB096-FB38-87F8-B2FC-BEB381A970C3}"/>
              </a:ext>
            </a:extLst>
          </p:cNvPr>
          <p:cNvSpPr txBox="1"/>
          <p:nvPr/>
        </p:nvSpPr>
        <p:spPr>
          <a:xfrm>
            <a:off x="399173" y="1908582"/>
            <a:ext cx="113936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ru-RU" altLang="zh-CN" dirty="0"/>
              <a:t>В ходе научно-исследовательской работы во втором семестре поставленные задачи были успешно выполнены, реализовано глубокое алгоритмическое моделирование и программная разработка системы распознавания поведения пешеходов и многообъектного сопровождения (tracking) для бортовых систем.</a:t>
            </a:r>
            <a:endParaRPr lang="en-US" altLang="zh-CN" dirty="0"/>
          </a:p>
          <a:p>
            <a:pPr indent="457200"/>
            <a:r>
              <a:rPr lang="en-US" altLang="zh-CN" dirty="0"/>
              <a:t>1. </a:t>
            </a:r>
            <a:r>
              <a:rPr lang="ru-RU" altLang="zh-CN" dirty="0"/>
              <a:t>Интеграция и стандартизация данных.</a:t>
            </a:r>
            <a:endParaRPr lang="en-US" altLang="zh-CN" dirty="0"/>
          </a:p>
          <a:p>
            <a:pPr indent="457200"/>
            <a:r>
              <a:rPr lang="ru-RU" altLang="zh-CN" dirty="0"/>
              <a:t>Успешно интегрированы промышленные стандартные наборы данных JAAD и MOT17 с различными организационными особенностями.</a:t>
            </a:r>
            <a:endParaRPr lang="en-US" altLang="zh-CN" dirty="0"/>
          </a:p>
          <a:p>
            <a:pPr indent="457200"/>
            <a:r>
              <a:rPr lang="en-US" altLang="zh-CN" dirty="0"/>
              <a:t>2. </a:t>
            </a:r>
            <a:r>
              <a:rPr lang="ru-RU" altLang="zh-CN" dirty="0"/>
              <a:t>Оптимизация детекции и механизмы отказоустойчивости.</a:t>
            </a:r>
            <a:endParaRPr lang="en-US" altLang="zh-CN" dirty="0"/>
          </a:p>
          <a:p>
            <a:pPr indent="457200"/>
            <a:r>
              <a:rPr lang="ru-RU" altLang="zh-CN" dirty="0"/>
              <a:t>В качестве основы детекции пешеходов на перцептивном уровне выбрана безякорная (Anchor-free) полносвёрточная нейронная сеть YOLOX.</a:t>
            </a:r>
            <a:endParaRPr lang="en-US" altLang="zh-CN" dirty="0"/>
          </a:p>
          <a:p>
            <a:pPr indent="457200"/>
            <a:r>
              <a:rPr lang="en-US" altLang="zh-CN" dirty="0"/>
              <a:t>3. </a:t>
            </a:r>
            <a:r>
              <a:rPr lang="ru-RU" altLang="zh-CN" dirty="0"/>
              <a:t>Робастное многообъектное сопровождение пешеходов</a:t>
            </a:r>
            <a:r>
              <a:rPr lang="en-US" altLang="zh-CN" dirty="0"/>
              <a:t> </a:t>
            </a:r>
            <a:r>
              <a:rPr lang="ru-RU" altLang="zh-CN" dirty="0"/>
              <a:t>на основе фильтра Калмана.</a:t>
            </a:r>
            <a:endParaRPr lang="en-US" altLang="zh-CN" dirty="0"/>
          </a:p>
          <a:p>
            <a:pPr indent="457200"/>
            <a:r>
              <a:rPr lang="ru-RU" altLang="zh-CN" dirty="0"/>
              <a:t>Построена математическая модель непрерывного описания пространственной динамики движения пешеходов на основе фильтра Калмана. Оптимизирована глобальная ассоциация данных с использованием алгоритма Венгерского. Внедрена двухэтапная стратегия ассоциации в стиле BYTETrack, которая динамически разделяет пул обнаруженных объектов на множества с высокой и низкой достоверностью.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7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698567" y="2863768"/>
            <a:ext cx="11211339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727127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30408</TotalTime>
  <Words>1357</Words>
  <Application>Microsoft Office PowerPoint</Application>
  <PresentationFormat>宽屏</PresentationFormat>
  <Paragraphs>103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quote-cjk-patch</vt:lpstr>
      <vt:lpstr>Cambria</vt:lpstr>
      <vt:lpstr>Calibri Light</vt:lpstr>
      <vt:lpstr>Arial</vt:lpstr>
      <vt:lpstr>ui-sans-serif</vt:lpstr>
      <vt:lpstr>ALS Sector Regular</vt:lpstr>
      <vt:lpstr>Times New Roman</vt:lpstr>
      <vt:lpstr>Calibri</vt:lpstr>
      <vt:lpstr>Cambria Math</vt:lpstr>
      <vt:lpstr>Тема Office</vt:lpstr>
      <vt:lpstr>PowerPoint 演示文稿</vt:lpstr>
      <vt:lpstr>PowerPoint 演示文稿</vt:lpstr>
      <vt:lpstr>Основные исследовательские задачи текущего семестра</vt:lpstr>
      <vt:lpstr>Базовые наборы данных: MOT17 и JAAD</vt:lpstr>
      <vt:lpstr>Стандартизированный конвейер обработки данных</vt:lpstr>
      <vt:lpstr>Основной детектор на основе архитектуры YOLO с многоуровневой отказоустойчивой архитектурой</vt:lpstr>
      <vt:lpstr>Моделирование на основе фильтра Калмана (динамическая оценка состояния)</vt:lpstr>
      <vt:lpstr>Моделирование на основе фильтра Калмана (Рекурсивная структура «прогноз – обновление»)</vt:lpstr>
      <vt:lpstr>Стратегия ассоциации данных в Byte - Track</vt:lpstr>
      <vt:lpstr>Стратегия ассоциации данных в Byte - Track</vt:lpstr>
      <vt:lpstr>Результаты и анализ экспериментов</vt:lpstr>
      <vt:lpstr>Заключение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МГТУ им. Н.Э. Баумана</dc:title>
  <dc:subject/>
  <dc:creator>Katya Selivanova</dc:creator>
  <cp:keywords/>
  <dc:description/>
  <cp:lastModifiedBy>允达 张</cp:lastModifiedBy>
  <cp:revision>78</cp:revision>
  <dcterms:created xsi:type="dcterms:W3CDTF">2022-04-18T20:35:07Z</dcterms:created>
  <dcterms:modified xsi:type="dcterms:W3CDTF">2026-05-26T23:40:28Z</dcterms:modified>
  <cp:category/>
</cp:coreProperties>
</file>