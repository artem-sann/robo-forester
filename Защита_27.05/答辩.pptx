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314" r:id="rId2"/>
    <p:sldId id="374" r:id="rId3"/>
    <p:sldId id="257" r:id="rId4"/>
    <p:sldId id="377" r:id="rId5"/>
    <p:sldId id="260" r:id="rId6"/>
    <p:sldId id="381" r:id="rId7"/>
    <p:sldId id="371" r:id="rId8"/>
    <p:sldId id="384" r:id="rId9"/>
    <p:sldId id="382" r:id="rId10"/>
    <p:sldId id="263" r:id="rId11"/>
    <p:sldId id="380" r:id="rId12"/>
    <p:sldId id="386" r:id="rId13"/>
    <p:sldId id="378" r:id="rId14"/>
    <p:sldId id="376" r:id="rId15"/>
    <p:sldId id="385" r:id="rId16"/>
    <p:sldId id="346" r:id="rId17"/>
  </p:sldIdLst>
  <p:sldSz cx="12192000" cy="6858000"/>
  <p:notesSz cx="6858000" cy="9144000"/>
  <p:embeddedFontLst>
    <p:embeddedFont>
      <p:font typeface="Cambria Math" panose="02040503050406030204" pitchFamily="18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s" id="{FCEA663C-48B0-7640-ACFB-F74CC6B52896}">
          <p14:sldIdLst>
            <p14:sldId id="314"/>
          </p14:sldIdLst>
        </p14:section>
        <p14:section name="Main Pages" id="{2D6216EE-085B-1D4F-9148-1C95E9B04113}">
          <p14:sldIdLst>
            <p14:sldId id="374"/>
            <p14:sldId id="257"/>
            <p14:sldId id="377"/>
            <p14:sldId id="260"/>
            <p14:sldId id="381"/>
            <p14:sldId id="371"/>
            <p14:sldId id="384"/>
            <p14:sldId id="382"/>
            <p14:sldId id="263"/>
            <p14:sldId id="380"/>
            <p14:sldId id="386"/>
            <p14:sldId id="378"/>
            <p14:sldId id="376"/>
            <p14:sldId id="385"/>
          </p14:sldIdLst>
        </p14:section>
        <p14:section name="End Pages" id="{3602EDAD-CAB5-8D49-BB7B-9D76B042243D}">
          <p14:sldIdLst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6FF"/>
    <a:srgbClr val="176DEA"/>
    <a:srgbClr val="000000"/>
    <a:srgbClr val="232323"/>
    <a:srgbClr val="434343"/>
    <a:srgbClr val="FFFFFF"/>
    <a:srgbClr val="D4E5FE"/>
    <a:srgbClr val="F8F8F8"/>
    <a:srgbClr val="EAEAEA"/>
    <a:srgbClr val="F83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4"/>
    <p:restoredTop sz="96926" autoAdjust="0"/>
  </p:normalViewPr>
  <p:slideViewPr>
    <p:cSldViewPr snapToGrid="0" snapToObjects="1">
      <p:cViewPr varScale="1">
        <p:scale>
          <a:sx n="121" d="100"/>
          <a:sy n="121" d="100"/>
        </p:scale>
        <p:origin x="91" y="77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Требуемый момент</c:v>
                </c:pt>
              </c:strCache>
            </c:strRef>
          </c:tx>
          <c:spPr>
            <a:solidFill>
              <a:srgbClr val="0B9BA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Joint 2</c:v>
                </c:pt>
                <c:pt idx="1">
                  <c:v>Joint 3</c:v>
                </c:pt>
                <c:pt idx="2">
                  <c:v>Joint 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2.33</c:v>
                </c:pt>
                <c:pt idx="1">
                  <c:v>1.65</c:v>
                </c:pt>
                <c:pt idx="2">
                  <c:v>1.0900000000000001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B-431B-BD88-AEDD168175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Момент сервопривода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Joint 2</c:v>
                </c:pt>
                <c:pt idx="1">
                  <c:v>Joint 3</c:v>
                </c:pt>
                <c:pt idx="2">
                  <c:v>Joint 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2.4500000000000002</c:v>
                </c:pt>
                <c:pt idx="1">
                  <c:v>1.67</c:v>
                </c:pt>
                <c:pt idx="2">
                  <c:v>1.67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1B-431B-BD88-AEDD16817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1DD2-73B1-F14C-85CF-6D78FFDE7F8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E6FB5-F890-304F-A36B-54AA81FB8B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9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04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8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2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16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2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7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84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18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8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4A8F-D894-394B-8106-7DD72FD6EB1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31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BA5005D-25F1-8C4C-BB73-239FCFD15527}"/>
              </a:ext>
            </a:extLst>
          </p:cNvPr>
          <p:cNvSpPr txBox="1">
            <a:spLocks/>
          </p:cNvSpPr>
          <p:nvPr/>
        </p:nvSpPr>
        <p:spPr>
          <a:xfrm>
            <a:off x="2613688" y="32892"/>
            <a:ext cx="6858236" cy="1730124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«Московский государственный технический университет имени Н.Э. Баумана (национальный исследовательский университет)» (МГТУ им. Н.Э. Баумана)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5C6E6A-16A9-05E9-8058-921048A0FA50}"/>
              </a:ext>
            </a:extLst>
          </p:cNvPr>
          <p:cNvSpPr txBox="1"/>
          <p:nvPr/>
        </p:nvSpPr>
        <p:spPr>
          <a:xfrm>
            <a:off x="197353" y="1934064"/>
            <a:ext cx="630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  Специальное машиностроение</a:t>
            </a:r>
          </a:p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     Робототехнические системы и мехатроника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61A0C80-91C1-0EB6-1D95-AEB7E9669F67}"/>
              </a:ext>
            </a:extLst>
          </p:cNvPr>
          <p:cNvSpPr txBox="1">
            <a:spLocks/>
          </p:cNvSpPr>
          <p:nvPr/>
        </p:nvSpPr>
        <p:spPr>
          <a:xfrm>
            <a:off x="244497" y="2540924"/>
            <a:ext cx="11703004" cy="1899006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>
                <a:latin typeface="ALS Sector Regular" pitchFamily="2" charset="0"/>
                <a:cs typeface="ALS Sector Regular" pitchFamily="2" charset="0"/>
              </a:rPr>
              <a:t>Интеллектуальная манипуляционная робототехническая система для сортировки </a:t>
            </a:r>
          </a:p>
          <a:p>
            <a:pPr algn="ctr"/>
            <a:r>
              <a:rPr lang="ru-RU" sz="5400" b="1" dirty="0">
                <a:latin typeface="ALS Sector Regular" pitchFamily="2" charset="0"/>
                <a:cs typeface="ALS Sector Regular" pitchFamily="2" charset="0"/>
              </a:rPr>
              <a:t>отходов в сложной среде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E585E6-948D-BCF5-1408-7A291E277CAD}"/>
              </a:ext>
            </a:extLst>
          </p:cNvPr>
          <p:cNvSpPr txBox="1"/>
          <p:nvPr/>
        </p:nvSpPr>
        <p:spPr>
          <a:xfrm>
            <a:off x="463435" y="4956026"/>
            <a:ext cx="491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СМ7И-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       Ли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Шэньшэнь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CD6E839-C026-8247-E93A-2D8E03D594E7}"/>
              </a:ext>
            </a:extLst>
          </p:cNvPr>
          <p:cNvSpPr txBox="1"/>
          <p:nvPr/>
        </p:nvSpPr>
        <p:spPr>
          <a:xfrm>
            <a:off x="463435" y="5453508"/>
            <a:ext cx="7430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                 Романова-Большакова Ирина Константиновна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5">
            <a:extLst>
              <a:ext uri="{FF2B5EF4-FFF2-40B4-BE49-F238E27FC236}">
                <a16:creationId xmlns:a16="http://schemas.microsoft.com/office/drawing/2014/main" id="{461D4E35-1413-70C7-4F6C-4F16D7BD192B}"/>
              </a:ext>
            </a:extLst>
          </p:cNvPr>
          <p:cNvSpPr/>
          <p:nvPr/>
        </p:nvSpPr>
        <p:spPr>
          <a:xfrm>
            <a:off x="463436" y="6079140"/>
            <a:ext cx="15986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76DEA"/>
              </a:buClr>
            </a:pPr>
            <a:r>
              <a:rPr lang="ru-RU" sz="2000" dirty="0">
                <a:solidFill>
                  <a:schemeClr val="tx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2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7/05/2026</a:t>
            </a:r>
            <a:endParaRPr lang="ru-RU" sz="2000" dirty="0">
              <a:solidFill>
                <a:schemeClr val="tx1">
                  <a:alpha val="50000"/>
                </a:schemeClr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330B214-E0F6-D528-C73E-DD83A8122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494082" cy="176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E7E3C-E6A9-BCF4-43D9-BD9F4091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3E2EB3A-9608-2AA0-9C9E-FBA563EBD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69065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B52550A-2249-1456-44EE-BE68496E66DE}"/>
              </a:ext>
            </a:extLst>
          </p:cNvPr>
          <p:cNvSpPr txBox="1"/>
          <p:nvPr/>
        </p:nvSpPr>
        <p:spPr>
          <a:xfrm>
            <a:off x="710159" y="514367"/>
            <a:ext cx="5045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НИРС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BDEE36-FD62-82D4-48AD-EDC432E7D38C}"/>
              </a:ext>
            </a:extLst>
          </p:cNvPr>
          <p:cNvSpPr txBox="1"/>
          <p:nvPr/>
        </p:nvSpPr>
        <p:spPr>
          <a:xfrm>
            <a:off x="435819" y="1837825"/>
            <a:ext cx="2118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74C34A-353B-17FE-FFDD-5A914A3F2F57}"/>
              </a:ext>
            </a:extLst>
          </p:cNvPr>
          <p:cNvSpPr txBox="1"/>
          <p:nvPr/>
        </p:nvSpPr>
        <p:spPr>
          <a:xfrm>
            <a:off x="435819" y="3515693"/>
            <a:ext cx="3240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текущего этапа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22A2B4-67C1-4B96-5E55-57480D1475AE}"/>
              </a:ext>
            </a:extLst>
          </p:cNvPr>
          <p:cNvSpPr txBox="1"/>
          <p:nvPr/>
        </p:nvSpPr>
        <p:spPr>
          <a:xfrm>
            <a:off x="431231" y="4518947"/>
            <a:ext cx="14329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8B1CF8-DA7D-7C60-3007-64A0D4FBEEC9}"/>
              </a:ext>
            </a:extLst>
          </p:cNvPr>
          <p:cNvSpPr txBox="1"/>
          <p:nvPr/>
        </p:nvSpPr>
        <p:spPr>
          <a:xfrm>
            <a:off x="1004082" y="2370690"/>
            <a:ext cx="7896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бытовых отходов в неструктурированной среде требует гибких робототехнических решений.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AF21CA-8A38-84B2-1A28-88B089C66DF2}"/>
              </a:ext>
            </a:extLst>
          </p:cNvPr>
          <p:cNvSpPr txBox="1"/>
          <p:nvPr/>
        </p:nvSpPr>
        <p:spPr>
          <a:xfrm>
            <a:off x="987266" y="3924527"/>
            <a:ext cx="8169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Расчетно-теоретическое обоснование схемы и силовой анализ 5-осевого манипулятора для позиционирования в задачах сортировки отходов.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F7E32-6880-F790-3D4D-091D28F4D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082" y="4892760"/>
            <a:ext cx="80422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требования к манипуляционной системе.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3D-модели звеньев и исполнительного схвата.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Математическое описание кинематики (ПЗК по D-H, ОЗК методом Пола).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верификация крутящих моментов в среде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Multibody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Обоснованный выбор и распределение номенклатуры сервоприводов.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AAB1B9-03C5-2EF8-EFB5-49A029EDEF00}"/>
              </a:ext>
            </a:extLst>
          </p:cNvPr>
          <p:cNvSpPr txBox="1"/>
          <p:nvPr/>
        </p:nvSpPr>
        <p:spPr>
          <a:xfrm>
            <a:off x="1004082" y="2935337"/>
            <a:ext cx="8385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хаотично расположенных объектов необходим манипулятор, обеспечивающий захват сверху вниз.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969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55871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 и исходные требования</a:t>
            </a:r>
            <a:endParaRPr sz="3200" b="1" dirty="0">
              <a:solidFill>
                <a:srgbClr val="242A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38414" y="6446520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280" y="1074977"/>
            <a:ext cx="3996233" cy="541173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just"/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</a:p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Лёгкие бытовые отходы, поступающие на линию сортировки.</a:t>
            </a:r>
          </a:p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Типовые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ПЭТ-бутылки, алюминиевые банки, картонная упаковка, смешанные лёгкие отходы.</a:t>
            </a:r>
          </a:p>
          <a:p>
            <a:pPr algn="just"/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Рабочий диапазон</a:t>
            </a:r>
          </a:p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Характерная масса объектов: 20–300 г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Расчётная нагрузка манипулятора: 0,5 кг</a:t>
            </a:r>
          </a:p>
          <a:p>
            <a:pPr algn="just"/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 работы</a:t>
            </a:r>
          </a:p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Неструктурированная среда;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случайное расположение и частичное перекрытие объектов.</a:t>
            </a:r>
          </a:p>
          <a:p>
            <a:pPr algn="just"/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Исходные требования</a:t>
            </a:r>
          </a:p>
          <a:p>
            <a:pPr algn="just"/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Ширина конвейера: 300–350 мм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Требуемый рабочий радиус: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ρmax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360 мм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94FB5AA-76F6-DD4E-B417-5691EEBA4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270" y="1490623"/>
            <a:ext cx="6686446" cy="4457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6CE5FDF-639F-4762-CCFA-DE8AF00B1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4" y="1411771"/>
            <a:ext cx="6333005" cy="422200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AFFCD2A-2290-1F75-AB37-6EF0F8776BC1}"/>
              </a:ext>
            </a:extLst>
          </p:cNvPr>
          <p:cNvSpPr txBox="1"/>
          <p:nvPr/>
        </p:nvSpPr>
        <p:spPr>
          <a:xfrm>
            <a:off x="6208540" y="1814612"/>
            <a:ext cx="581484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применения</a:t>
            </a:r>
          </a:p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Конвейерная сортировка лёгких бытовых отходов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Боковое размещение манипулятора у рабочей зоны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Захват сверху вниз и перенос в заданную область</a:t>
            </a:r>
          </a:p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системы</a:t>
            </a:r>
          </a:p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RGB-камера и модуль распознавания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Блок планирования движения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5-осевой манипулятор с захватом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Конвейер и зоны сортировки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DD3EAF-4EBD-0F91-3015-714632DCBD0D}"/>
              </a:ext>
            </a:extLst>
          </p:cNvPr>
          <p:cNvSpPr/>
          <p:nvPr/>
        </p:nvSpPr>
        <p:spPr>
          <a:xfrm>
            <a:off x="4546059" y="3195536"/>
            <a:ext cx="369651" cy="2334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E8A13EA-C98C-7A00-F1D4-6405C1A137F3}"/>
              </a:ext>
            </a:extLst>
          </p:cNvPr>
          <p:cNvSpPr txBox="1"/>
          <p:nvPr/>
        </p:nvSpPr>
        <p:spPr>
          <a:xfrm>
            <a:off x="738742" y="337954"/>
            <a:ext cx="81647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применения и структура системы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918F00-5118-756B-A3E4-F86F200BA318}"/>
              </a:ext>
            </a:extLst>
          </p:cNvPr>
          <p:cNvSpPr txBox="1"/>
          <p:nvPr/>
        </p:nvSpPr>
        <p:spPr>
          <a:xfrm>
            <a:off x="480849" y="5300731"/>
            <a:ext cx="930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изображение → объект → точка захвата → движение → сортировка</a:t>
            </a:r>
          </a:p>
        </p:txBody>
      </p:sp>
    </p:spTree>
    <p:extLst>
      <p:ext uri="{BB962C8B-B14F-4D97-AF65-F5344CB8AC3E}">
        <p14:creationId xmlns:p14="http://schemas.microsoft.com/office/powerpoint/2010/main" val="378095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01168"/>
            <a:ext cx="91328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Конструкция манипулятора и основные параметры</a:t>
            </a:r>
            <a:endParaRPr sz="3200" b="1" dirty="0">
              <a:solidFill>
                <a:srgbClr val="242A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38414" y="6446520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991" y="4683679"/>
            <a:ext cx="9321056" cy="1410643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выбранной схемы</a:t>
            </a:r>
          </a:p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5-осевая схема обеспечивает захват объектов сверху вниз.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 сравнению с 6-осевой схемой уменьшается конструктивная сложность.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 сравнению с 3–4-осевыми схемами повышается гибкость при работе с перекрытыми объектами.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F144117-52B4-012F-E3CE-85C3C4AD3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820"/>
          <a:stretch>
            <a:fillRect/>
          </a:stretch>
        </p:blipFill>
        <p:spPr>
          <a:xfrm>
            <a:off x="6858087" y="763678"/>
            <a:ext cx="4900678" cy="4065866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06ED0E-F272-2CA5-24FB-218275E85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411285"/>
              </p:ext>
            </p:extLst>
          </p:nvPr>
        </p:nvGraphicFramePr>
        <p:xfrm>
          <a:off x="276991" y="1547626"/>
          <a:ext cx="6400800" cy="28940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16672072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099096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2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механизма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5-осевой последовательный манипулятор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878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Подвижность системы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осей манипулятора + 1 степень свободы захвата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9585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Максимальный рабочий радиус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364 мм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5368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Габаритная высота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429 мм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4731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Длина плеча L1 / предплечья L2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 мм / 94 мм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48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Эффективная длина инструмента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 мм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4714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Максимальное раскрытие захвата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 мм 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958522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BDD090C-1CFB-22F9-2FF1-6F050D08996E}"/>
              </a:ext>
            </a:extLst>
          </p:cNvPr>
          <p:cNvSpPr txBox="1"/>
          <p:nvPr/>
        </p:nvSpPr>
        <p:spPr>
          <a:xfrm>
            <a:off x="9144526" y="4537556"/>
            <a:ext cx="2614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= 364 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мм ≥ 360 мм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56B4E-ADD8-4086-17E0-8A3A1631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B3E4D6E-9D8F-32EF-93FD-73DF59AD3C8E}"/>
              </a:ext>
            </a:extLst>
          </p:cNvPr>
          <p:cNvSpPr txBox="1"/>
          <p:nvPr/>
        </p:nvSpPr>
        <p:spPr>
          <a:xfrm>
            <a:off x="198775" y="1638660"/>
            <a:ext cx="609494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Многотеловая</a:t>
            </a:r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</a:t>
            </a: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CAD/URDF-модель перенесена в среду MATLAB/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Кинематическая цепь построена из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Revolute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Joint и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-блоков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Модель включает звенья, захват и TCP</a:t>
            </a:r>
          </a:p>
          <a:p>
            <a:pPr>
              <a:buNone/>
            </a:pPr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корректности</a:t>
            </a: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Локальные системы координат привязаны к суставам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Оси вращения согласованы с D–H описанием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Тестовые конфигурации подтвердили корректное движение модели</a:t>
            </a:r>
          </a:p>
          <a:p>
            <a:pPr>
              <a:buNone/>
            </a:pPr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endParaRPr lang="ru-RU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используется для рабочей зоны и динамических моментов.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148F05-5830-9826-A16C-A23733A1D691}"/>
              </a:ext>
            </a:extLst>
          </p:cNvPr>
          <p:cNvSpPr txBox="1"/>
          <p:nvPr/>
        </p:nvSpPr>
        <p:spPr>
          <a:xfrm>
            <a:off x="565992" y="308343"/>
            <a:ext cx="79183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Многотеловая</a:t>
            </a:r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в </a:t>
            </a:r>
            <a:r>
              <a:rPr lang="ru-RU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Multibody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0C83B40-DFA9-6619-B5A0-A9AFD1A078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00" t="22139" r="17098"/>
          <a:stretch>
            <a:fillRect/>
          </a:stretch>
        </p:blipFill>
        <p:spPr bwMode="auto">
          <a:xfrm>
            <a:off x="6293723" y="1472996"/>
            <a:ext cx="5845740" cy="44814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6F30BD3-9347-7A1D-0640-0F1763BC8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3" y="0"/>
            <a:ext cx="12139160" cy="55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75661-CC2C-CDE0-DFF7-DE92BCF6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D0249F-A85E-259B-67E0-51B4ADA9E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70"/>
            <a:ext cx="12192000" cy="185902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7FAF277-9ED4-DB9E-DC9D-82C2C1A1B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369" y="2645079"/>
            <a:ext cx="6024424" cy="2543740"/>
          </a:xfrm>
          <a:prstGeom prst="rect">
            <a:avLst/>
          </a:prstGeom>
        </p:spPr>
      </p:pic>
      <p:sp>
        <p:nvSpPr>
          <p:cNvPr id="25" name="Rectangle 16">
            <a:extLst>
              <a:ext uri="{FF2B5EF4-FFF2-40B4-BE49-F238E27FC236}">
                <a16:creationId xmlns:a16="http://schemas.microsoft.com/office/drawing/2014/main" id="{F2DE0FDF-3CBD-A12C-5338-0D837EC21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944" y="397280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65D59B0-0DEC-C6B9-F312-39687ACD140D}"/>
              </a:ext>
            </a:extLst>
          </p:cNvPr>
          <p:cNvSpPr txBox="1"/>
          <p:nvPr/>
        </p:nvSpPr>
        <p:spPr>
          <a:xfrm>
            <a:off x="5934119" y="1825278"/>
            <a:ext cx="3005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параметров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D-H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21">
            <a:extLst>
              <a:ext uri="{FF2B5EF4-FFF2-40B4-BE49-F238E27FC236}">
                <a16:creationId xmlns:a16="http://schemas.microsoft.com/office/drawing/2014/main" id="{8C4967B2-69F5-F208-A6A9-919AFC2DF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3113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235032-FB77-A1B1-0688-B26DC7549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07" y="1940821"/>
            <a:ext cx="5753082" cy="434973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2A9AD54-E924-0EB0-2925-E90C07293AF6}"/>
              </a:ext>
            </a:extLst>
          </p:cNvPr>
          <p:cNvSpPr txBox="1"/>
          <p:nvPr/>
        </p:nvSpPr>
        <p:spPr>
          <a:xfrm>
            <a:off x="694944" y="314929"/>
            <a:ext cx="8146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Кинематическая схема и параметры D–H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C17486-725B-7C20-448C-116A02DCE702}"/>
              </a:ext>
            </a:extLst>
          </p:cNvPr>
          <p:cNvSpPr txBox="1"/>
          <p:nvPr/>
        </p:nvSpPr>
        <p:spPr>
          <a:xfrm>
            <a:off x="6032185" y="5657673"/>
            <a:ext cx="6442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D–H-модель используется как основа для решения прямой и обратной задач кинематики.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2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D358F-FC78-D3C1-FBE7-98432685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9223A92-CC97-A2F9-0058-DA8B5DA3E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70"/>
            <a:ext cx="12192000" cy="1859029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D55790C4-7256-B265-7948-0D5D0FCC9D06}"/>
              </a:ext>
            </a:extLst>
          </p:cNvPr>
          <p:cNvSpPr txBox="1"/>
          <p:nvPr/>
        </p:nvSpPr>
        <p:spPr>
          <a:xfrm>
            <a:off x="406908" y="586226"/>
            <a:ext cx="113604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Прямая задача кинематики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ПЗК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верификация рабочей зоны</a:t>
            </a:r>
            <a:endParaRPr lang="ru-RU" altLang="zh-CN" sz="3200" b="1" dirty="0">
              <a:solidFill>
                <a:srgbClr val="242A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21">
            <a:extLst>
              <a:ext uri="{FF2B5EF4-FFF2-40B4-BE49-F238E27FC236}">
                <a16:creationId xmlns:a16="http://schemas.microsoft.com/office/drawing/2014/main" id="{350AD8D0-7903-4100-0D33-35590087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3113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E40DADF-6C47-0CCA-BCD0-FDEBADD24CA8}"/>
                  </a:ext>
                </a:extLst>
              </p:cNvPr>
              <p:cNvSpPr txBox="1"/>
              <p:nvPr/>
            </p:nvSpPr>
            <p:spPr>
              <a:xfrm>
                <a:off x="5994908" y="3839372"/>
                <a:ext cx="5391818" cy="1570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E40DADF-6C47-0CCA-BCD0-FDEBADD24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08" y="3839372"/>
                <a:ext cx="5391818" cy="15704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463A338-AFFA-4A81-B1CC-BBBC0076A2DF}"/>
                  </a:ext>
                </a:extLst>
              </p:cNvPr>
              <p:cNvSpPr txBox="1"/>
              <p:nvPr/>
            </p:nvSpPr>
            <p:spPr>
              <a:xfrm>
                <a:off x="326217" y="2664754"/>
                <a:ext cx="4849519" cy="1141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463A338-AFFA-4A81-B1CC-BBBC0076A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17" y="2664754"/>
                <a:ext cx="4849519" cy="11412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4C8F325D-976B-C3CE-A558-EA57169ABDD6}"/>
              </a:ext>
            </a:extLst>
          </p:cNvPr>
          <p:cNvSpPr txBox="1"/>
          <p:nvPr/>
        </p:nvSpPr>
        <p:spPr>
          <a:xfrm>
            <a:off x="0" y="1957512"/>
            <a:ext cx="609494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Матричный метод D–H</a:t>
            </a: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Используется произведение однородных преобразований: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B5A964-6EC0-4A7E-2C5F-D0AF7434BB4A}"/>
              </a:ext>
            </a:extLst>
          </p:cNvPr>
          <p:cNvSpPr txBox="1"/>
          <p:nvPr/>
        </p:nvSpPr>
        <p:spPr>
          <a:xfrm>
            <a:off x="403447" y="3935852"/>
            <a:ext cx="4695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матрице </a:t>
            </a:r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T⁰₅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определяется положение TCP: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94E253-EA5F-B69D-B643-C8F0651B6D10}"/>
              </a:ext>
            </a:extLst>
          </p:cNvPr>
          <p:cNvSpPr txBox="1"/>
          <p:nvPr/>
        </p:nvSpPr>
        <p:spPr>
          <a:xfrm>
            <a:off x="5994908" y="1994033"/>
            <a:ext cx="28439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Геометрический метод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1DEAE6-E3BE-0A12-80E9-BFB6BF048260}"/>
              </a:ext>
            </a:extLst>
          </p:cNvPr>
          <p:cNvSpPr txBox="1"/>
          <p:nvPr/>
        </p:nvSpPr>
        <p:spPr>
          <a:xfrm>
            <a:off x="6013312" y="2496822"/>
            <a:ext cx="61201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Движение звеньев 2–4 рассматривается в вертикальной плоскости.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Выделяются горизонтальная проекция </a:t>
            </a:r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высота </a:t>
            </a:r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Суммарная ориентация схвата: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BF5E5D-9ABA-307D-93E1-9A42D382A8B6}"/>
              </a:ext>
            </a:extLst>
          </p:cNvPr>
          <p:cNvSpPr txBox="1"/>
          <p:nvPr/>
        </p:nvSpPr>
        <p:spPr>
          <a:xfrm>
            <a:off x="155806" y="4454620"/>
            <a:ext cx="53918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[X, Y, Z]ᵀ</a:t>
            </a:r>
            <a:endParaRPr lang="ru-RU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Метод задаёт строгое аналитическое описание всей кинематической цепи.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CC2F97-27F0-65BA-7DAA-7619A9AA82EC}"/>
              </a:ext>
            </a:extLst>
          </p:cNvPr>
          <p:cNvSpPr txBox="1"/>
          <p:nvPr/>
        </p:nvSpPr>
        <p:spPr>
          <a:xfrm>
            <a:off x="6094948" y="5560809"/>
            <a:ext cx="61284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результат</a:t>
            </a:r>
          </a:p>
          <a:p>
            <a:pPr>
              <a:buNone/>
            </a:pP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ρmax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L₁ + L₂ + L₃ = 101 + 94 + 169 = 364 мм</a:t>
            </a: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364 мм ≥ 360 мм → требуемая рабочая зона обеспечена</a:t>
            </a:r>
          </a:p>
        </p:txBody>
      </p:sp>
    </p:spTree>
    <p:extLst>
      <p:ext uri="{BB962C8B-B14F-4D97-AF65-F5344CB8AC3E}">
        <p14:creationId xmlns:p14="http://schemas.microsoft.com/office/powerpoint/2010/main" val="161893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D4449-1AC4-6A9E-2AD8-F1776DED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EC93DFD-10E9-9296-7AB9-B320849573A4}"/>
              </a:ext>
            </a:extLst>
          </p:cNvPr>
          <p:cNvCxnSpPr>
            <a:cxnSpLocks/>
          </p:cNvCxnSpPr>
          <p:nvPr/>
        </p:nvCxnSpPr>
        <p:spPr>
          <a:xfrm>
            <a:off x="5199467" y="0"/>
            <a:ext cx="0" cy="685800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6DDF2126-5CCC-1E7A-C885-DA8DB5D50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70"/>
            <a:ext cx="12192000" cy="1859029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8BEF9D69-6DB1-D365-C093-1A43C661310E}"/>
              </a:ext>
            </a:extLst>
          </p:cNvPr>
          <p:cNvSpPr txBox="1"/>
          <p:nvPr/>
        </p:nvSpPr>
        <p:spPr>
          <a:xfrm>
            <a:off x="485579" y="519694"/>
            <a:ext cx="10096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Аналитическое решение обратной задачи кинематики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800" b="1" dirty="0">
              <a:solidFill>
                <a:srgbClr val="242A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4451358-7BA0-AFE9-05F1-28F9DE1458CD}"/>
              </a:ext>
            </a:extLst>
          </p:cNvPr>
          <p:cNvSpPr txBox="1"/>
          <p:nvPr/>
        </p:nvSpPr>
        <p:spPr>
          <a:xfrm>
            <a:off x="11638414" y="6446520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D8BF318-F5B1-063A-1CE0-C6ABEFE9432B}"/>
                  </a:ext>
                </a:extLst>
              </p:cNvPr>
              <p:cNvSpPr txBox="1"/>
              <p:nvPr/>
            </p:nvSpPr>
            <p:spPr>
              <a:xfrm>
                <a:off x="422516" y="1953089"/>
                <a:ext cx="4776951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D8BF318-F5B1-063A-1CE0-C6ABEFE94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16" y="1953089"/>
                <a:ext cx="4776951" cy="391902"/>
              </a:xfrm>
              <a:prstGeom prst="rect">
                <a:avLst/>
              </a:prstGeom>
              <a:blipFill>
                <a:blip r:embed="rId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4BFFF6F-EB27-E888-68F0-9FBA5FBAF84C}"/>
              </a:ext>
            </a:extLst>
          </p:cNvPr>
          <p:cNvSpPr txBox="1"/>
          <p:nvPr/>
        </p:nvSpPr>
        <p:spPr>
          <a:xfrm>
            <a:off x="485579" y="1281597"/>
            <a:ext cx="1608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Пола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EBCC83-5194-9086-8667-25FE52CFB8CE}"/>
                  </a:ext>
                </a:extLst>
              </p:cNvPr>
              <p:cNvSpPr txBox="1"/>
              <p:nvPr/>
            </p:nvSpPr>
            <p:spPr>
              <a:xfrm>
                <a:off x="422516" y="2961880"/>
                <a:ext cx="38508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EBCC83-5194-9086-8667-25FE52CFB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16" y="2961880"/>
                <a:ext cx="3850800" cy="403124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95C7433B-4CBC-B9BB-CFEF-77E89FFCFDDD}"/>
              </a:ext>
            </a:extLst>
          </p:cNvPr>
          <p:cNvSpPr txBox="1"/>
          <p:nvPr/>
        </p:nvSpPr>
        <p:spPr>
          <a:xfrm>
            <a:off x="243650" y="4059066"/>
            <a:ext cx="4638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Последовательное умножение на обратные матрицы позволяет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декуплировать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переменные и получить аналитическое решение без итерационного поиска.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B7B5E6-97C7-DAFF-47B0-C5ED3D5DAD70}"/>
              </a:ext>
            </a:extLst>
          </p:cNvPr>
          <p:cNvSpPr txBox="1"/>
          <p:nvPr/>
        </p:nvSpPr>
        <p:spPr>
          <a:xfrm>
            <a:off x="5365005" y="1938192"/>
            <a:ext cx="3797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азимутальный угол основания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F86CAE-01D0-9211-27ED-A3EB2436904E}"/>
              </a:ext>
            </a:extLst>
          </p:cNvPr>
          <p:cNvSpPr txBox="1"/>
          <p:nvPr/>
        </p:nvSpPr>
        <p:spPr>
          <a:xfrm>
            <a:off x="5365005" y="2822866"/>
            <a:ext cx="4805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q₃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угол локтя через параметр достижимости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404D35D-0391-B4EF-1397-DDE1235E9200}"/>
              </a:ext>
            </a:extLst>
          </p:cNvPr>
          <p:cNvSpPr txBox="1"/>
          <p:nvPr/>
        </p:nvSpPr>
        <p:spPr>
          <a:xfrm>
            <a:off x="5365005" y="3809688"/>
            <a:ext cx="178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q₂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угол плеча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2CF78F-6675-6C23-FDAD-2D1E40C7FB7A}"/>
              </a:ext>
            </a:extLst>
          </p:cNvPr>
          <p:cNvSpPr txBox="1"/>
          <p:nvPr/>
        </p:nvSpPr>
        <p:spPr>
          <a:xfrm>
            <a:off x="5365005" y="4637049"/>
            <a:ext cx="2136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угол запястья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DD542C-9604-600D-1AF4-19FE166AE54C}"/>
              </a:ext>
            </a:extLst>
          </p:cNvPr>
          <p:cNvSpPr txBox="1"/>
          <p:nvPr/>
        </p:nvSpPr>
        <p:spPr>
          <a:xfrm>
            <a:off x="5199467" y="5405574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получен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неитерационный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 расчёта суставных координат, пригодный для последующей реализации в системе управления манипулятором.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767441-E4CD-6309-DC68-78581B870378}"/>
                  </a:ext>
                </a:extLst>
              </p:cNvPr>
              <p:cNvSpPr txBox="1"/>
              <p:nvPr/>
            </p:nvSpPr>
            <p:spPr>
              <a:xfrm>
                <a:off x="5970400" y="2356628"/>
                <a:ext cx="2382169" cy="411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atan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sepChr m:val=","/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767441-E4CD-6309-DC68-78581B870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400" y="2356628"/>
                <a:ext cx="2382169" cy="411010"/>
              </a:xfrm>
              <a:prstGeom prst="rect">
                <a:avLst/>
              </a:prstGeom>
              <a:blipFill>
                <a:blip r:embed="rId6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3F3599F-7616-2C0D-3F4D-68419E9BEF97}"/>
                  </a:ext>
                </a:extLst>
              </p:cNvPr>
              <p:cNvSpPr txBox="1"/>
              <p:nvPr/>
            </p:nvSpPr>
            <p:spPr>
              <a:xfrm>
                <a:off x="5964978" y="3243069"/>
                <a:ext cx="2789780" cy="511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atan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zh-CN" alt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zh-CN" alt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3F3599F-7616-2C0D-3F4D-68419E9BE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78" y="3243069"/>
                <a:ext cx="2789780" cy="5118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260C38A-71D9-C5CF-077F-46BD4631488B}"/>
                  </a:ext>
                </a:extLst>
              </p:cNvPr>
              <p:cNvSpPr txBox="1"/>
              <p:nvPr/>
            </p:nvSpPr>
            <p:spPr>
              <a:xfrm>
                <a:off x="5979692" y="4227834"/>
                <a:ext cx="40596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atan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sepChr m:val=","/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  <m:e>
                          <m:sSub>
                            <m:sSubPr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sub>
                          </m:sSub>
                        </m:e>
                      </m:d>
                      <m:r>
                        <a:rPr lang="zh-CN" altLang="en-US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atan</m:t>
                      </m:r>
                      <m:r>
                        <m:rPr>
                          <m:nor/>
                        </m:rPr>
                        <a:rPr lang="zh-CN" altLang="en-US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sepChr m:val=","/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260C38A-71D9-C5CF-077F-46BD46314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692" y="4227834"/>
                <a:ext cx="4059620" cy="369332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81F4E4F-7726-91F4-BA1B-2ED2694557CA}"/>
                  </a:ext>
                </a:extLst>
              </p:cNvPr>
              <p:cNvSpPr txBox="1"/>
              <p:nvPr/>
            </p:nvSpPr>
            <p:spPr>
              <a:xfrm>
                <a:off x="5964978" y="5059711"/>
                <a:ext cx="21362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234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81F4E4F-7726-91F4-BA1B-2ED269455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78" y="5059711"/>
                <a:ext cx="2136227" cy="369332"/>
              </a:xfrm>
              <a:prstGeom prst="rect">
                <a:avLst/>
              </a:prstGeom>
              <a:blipFill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4CB1784F-4BDD-B134-4332-D0FD131D5EA2}"/>
              </a:ext>
            </a:extLst>
          </p:cNvPr>
          <p:cNvSpPr txBox="1"/>
          <p:nvPr/>
        </p:nvSpPr>
        <p:spPr>
          <a:xfrm>
            <a:off x="5365005" y="1289200"/>
            <a:ext cx="3741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вычисления углов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33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01168"/>
            <a:ext cx="72490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altLang="zh-CN" sz="3200" dirty="0"/>
              <a:t>Статический анализ крутящих моментов</a:t>
            </a:r>
            <a:endParaRPr sz="3200" b="1" dirty="0">
              <a:solidFill>
                <a:srgbClr val="242A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39979"/>
            <a:ext cx="79600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rgbClr val="5A6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Крутящий момент формируется полезной нагрузкой и собственными массами звеньев манипулятора.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8414" y="6446520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46" y="3194093"/>
            <a:ext cx="4371170" cy="3334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момента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M₂</a:t>
            </a:r>
          </a:p>
        </p:txBody>
      </p:sp>
      <p:pic>
        <p:nvPicPr>
          <p:cNvPr id="8" name="Picture 7" descr="torque_eq.png"/>
          <p:cNvPicPr>
            <a:picLocks noChangeAspect="1"/>
          </p:cNvPicPr>
          <p:nvPr/>
        </p:nvPicPr>
        <p:blipFill>
          <a:blip r:embed="rId3"/>
          <a:srcRect t="17778" r="26032" b="13780"/>
          <a:stretch>
            <a:fillRect/>
          </a:stretch>
        </p:blipFill>
        <p:spPr>
          <a:xfrm>
            <a:off x="623346" y="3527518"/>
            <a:ext cx="4289189" cy="12959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46" y="4810146"/>
            <a:ext cx="4655051" cy="57964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lang="ru-RU" dirty="0">
                <a:solidFill>
                  <a:srgbClr val="242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Аналогично рассчитаны моменты M₃ и M₄ для локтевого и запястного суставов.</a:t>
            </a:r>
            <a:endParaRPr b="0" dirty="0">
              <a:solidFill>
                <a:srgbClr val="242A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A3BC21D3-44C1-AC41-AC3B-169441EBC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93CC235B-6E5F-3E7E-7E92-050F296F0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550052"/>
                  </p:ext>
                </p:extLst>
              </p:nvPr>
            </p:nvGraphicFramePr>
            <p:xfrm>
              <a:off x="6175434" y="1643237"/>
              <a:ext cx="4971288" cy="17388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50578">
                      <a:extLst>
                        <a:ext uri="{9D8B030D-6E8A-4147-A177-3AD203B41FA5}">
                          <a16:colId xmlns:a16="http://schemas.microsoft.com/office/drawing/2014/main" val="1029777418"/>
                        </a:ext>
                      </a:extLst>
                    </a:gridCol>
                    <a:gridCol w="1463614">
                      <a:extLst>
                        <a:ext uri="{9D8B030D-6E8A-4147-A177-3AD203B41FA5}">
                          <a16:colId xmlns:a16="http://schemas.microsoft.com/office/drawing/2014/main" val="465647878"/>
                        </a:ext>
                      </a:extLst>
                    </a:gridCol>
                    <a:gridCol w="1657096">
                      <a:extLst>
                        <a:ext uri="{9D8B030D-6E8A-4147-A177-3AD203B41FA5}">
                          <a16:colId xmlns:a16="http://schemas.microsoft.com/office/drawing/2014/main" val="3269004606"/>
                        </a:ext>
                      </a:extLst>
                    </a:gridCol>
                  </a:tblGrid>
                  <a:tr h="301362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Компонент</a:t>
                          </a:r>
                          <a:r>
                            <a:rPr lang="en-US" sz="14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zh-CN" sz="140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Обозначение</a:t>
                          </a:r>
                          <a:endParaRPr lang="zh-CN" sz="140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Масса</a:t>
                          </a:r>
                          <a:r>
                            <a:rPr lang="en-US" sz="14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sz="1400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кг</a:t>
                          </a:r>
                          <a:r>
                            <a:rPr lang="en-US" sz="14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065414"/>
                      </a:ext>
                    </a:extLst>
                  </a:tr>
                  <a:tr h="336926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Плечо</a:t>
                          </a: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(Link 2)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0.026</a:t>
                          </a:r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93209408"/>
                      </a:ext>
                    </a:extLst>
                  </a:tr>
                  <a:tr h="336926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Предплечье</a:t>
                          </a: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(Link 3)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0.053</a:t>
                          </a:r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88178737"/>
                      </a:ext>
                    </a:extLst>
                  </a:tr>
                  <a:tr h="336926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Модуль</a:t>
                          </a: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запястья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0.095</a:t>
                          </a:r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65685246"/>
                      </a:ext>
                    </a:extLst>
                  </a:tr>
                  <a:tr h="367142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altLang="zh-C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Номинальная нагрузка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198389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93CC235B-6E5F-3E7E-7E92-050F296F0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550052"/>
                  </p:ext>
                </p:extLst>
              </p:nvPr>
            </p:nvGraphicFramePr>
            <p:xfrm>
              <a:off x="6175434" y="1643237"/>
              <a:ext cx="4971288" cy="17388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50578">
                      <a:extLst>
                        <a:ext uri="{9D8B030D-6E8A-4147-A177-3AD203B41FA5}">
                          <a16:colId xmlns:a16="http://schemas.microsoft.com/office/drawing/2014/main" val="1029777418"/>
                        </a:ext>
                      </a:extLst>
                    </a:gridCol>
                    <a:gridCol w="1463614">
                      <a:extLst>
                        <a:ext uri="{9D8B030D-6E8A-4147-A177-3AD203B41FA5}">
                          <a16:colId xmlns:a16="http://schemas.microsoft.com/office/drawing/2014/main" val="465647878"/>
                        </a:ext>
                      </a:extLst>
                    </a:gridCol>
                    <a:gridCol w="1657096">
                      <a:extLst>
                        <a:ext uri="{9D8B030D-6E8A-4147-A177-3AD203B41FA5}">
                          <a16:colId xmlns:a16="http://schemas.microsoft.com/office/drawing/2014/main" val="3269004606"/>
                        </a:ext>
                      </a:extLst>
                    </a:gridCol>
                  </a:tblGrid>
                  <a:tr h="301362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Компонент</a:t>
                          </a:r>
                          <a:r>
                            <a:rPr lang="en-US" sz="14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zh-CN" sz="140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Обозначение</a:t>
                          </a:r>
                          <a:endParaRPr lang="zh-CN" sz="1400" kern="10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Масса</a:t>
                          </a:r>
                          <a:r>
                            <a:rPr lang="en-US" sz="14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sz="1400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кг</a:t>
                          </a:r>
                          <a:r>
                            <a:rPr lang="en-US" sz="14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065414"/>
                      </a:ext>
                    </a:extLst>
                  </a:tr>
                  <a:tr h="336926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Плечо</a:t>
                          </a: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(Link 2)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27500" t="-107273" r="-114167" b="-36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0.026</a:t>
                          </a:r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93209408"/>
                      </a:ext>
                    </a:extLst>
                  </a:tr>
                  <a:tr h="336926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Предплечье</a:t>
                          </a: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(Link 3)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27500" t="-207273" r="-114167" b="-26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0.053</a:t>
                          </a:r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88178737"/>
                      </a:ext>
                    </a:extLst>
                  </a:tr>
                  <a:tr h="336926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Модуль</a:t>
                          </a: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запястья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27500" t="-301786" r="-114167" b="-1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0.095</a:t>
                          </a:r>
                          <a:endParaRPr lang="zh-CN" sz="14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6568524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altLang="zh-CN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Номинальная нагрузка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27500" t="-321429" r="-114167" b="-2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CN" sz="1400" kern="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198389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082BA3E-B272-E9FE-287F-020D025160B3}"/>
                  </a:ext>
                </a:extLst>
              </p:cNvPr>
              <p:cNvSpPr txBox="1"/>
              <p:nvPr/>
            </p:nvSpPr>
            <p:spPr>
              <a:xfrm>
                <a:off x="638083" y="1468208"/>
                <a:ext cx="4971288" cy="15327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Расчетная схема и допущения</a:t>
                </a:r>
                <a:endPara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Учитываются массы всех звеньев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модуля запястья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полезной нагрузки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algn="just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Рассматривается наиболее нагруженный режим — полное горизонтальное вытяжение.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082BA3E-B272-E9FE-287F-020D02516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83" y="1468208"/>
                <a:ext cx="4971288" cy="1532792"/>
              </a:xfrm>
              <a:prstGeom prst="rect">
                <a:avLst/>
              </a:prstGeom>
              <a:blipFill>
                <a:blip r:embed="rId5"/>
                <a:stretch>
                  <a:fillRect l="-1350" t="-2390" r="-982" b="-5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07177DD0-6F6B-1DE0-2B1E-58DFC1371505}"/>
              </a:ext>
            </a:extLst>
          </p:cNvPr>
          <p:cNvSpPr txBox="1"/>
          <p:nvPr/>
        </p:nvSpPr>
        <p:spPr>
          <a:xfrm>
            <a:off x="6096000" y="1234004"/>
            <a:ext cx="4324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Исходные массовые параметры</a:t>
            </a:r>
            <a:endParaRPr lang="ru-RU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053AE65-67A1-1AC2-0825-E2FBD23F0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800" y="3421997"/>
            <a:ext cx="4224273" cy="296549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BB33933-0A40-6310-8B05-FB9FF0A15D9B}"/>
              </a:ext>
            </a:extLst>
          </p:cNvPr>
          <p:cNvSpPr txBox="1"/>
          <p:nvPr/>
        </p:nvSpPr>
        <p:spPr>
          <a:xfrm>
            <a:off x="6414990" y="6427392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M₂max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2,12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Н·м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M₃max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1,47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Н·м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M₄max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0,89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Н·м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6250FC-F300-8A8B-120F-189915F2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5" t="2267"/>
          <a:stretch>
            <a:fillRect/>
          </a:stretch>
        </p:blipFill>
        <p:spPr>
          <a:xfrm>
            <a:off x="5366582" y="1122505"/>
            <a:ext cx="5707117" cy="32708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083075B-811F-5BE3-EC2C-12C0425BFF09}"/>
              </a:ext>
            </a:extLst>
          </p:cNvPr>
          <p:cNvSpPr txBox="1"/>
          <p:nvPr/>
        </p:nvSpPr>
        <p:spPr>
          <a:xfrm>
            <a:off x="443011" y="288299"/>
            <a:ext cx="8663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верификация в </a:t>
            </a:r>
            <a:r>
              <a:rPr lang="ru-RU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ru-RU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Multibody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E5140E-B8D8-2D40-98B3-0C6D583E7D3A}"/>
              </a:ext>
            </a:extLst>
          </p:cNvPr>
          <p:cNvSpPr txBox="1"/>
          <p:nvPr/>
        </p:nvSpPr>
        <p:spPr>
          <a:xfrm>
            <a:off x="392047" y="1221630"/>
            <a:ext cx="4161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Входной закон движения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1CCA61-672B-4557-D6D3-C7FF1D8EC01B}"/>
              </a:ext>
            </a:extLst>
          </p:cNvPr>
          <p:cNvSpPr txBox="1"/>
          <p:nvPr/>
        </p:nvSpPr>
        <p:spPr>
          <a:xfrm>
            <a:off x="443011" y="1734005"/>
            <a:ext cx="3520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Многотеловая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построена в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Multibody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Для Joint 2 задан гармонический закон движения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Регистрируются динамические моменты </a:t>
            </a:r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M₂, M₃, M₄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A9A54BB-387B-22F3-9850-E29849156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899490"/>
              </p:ext>
            </p:extLst>
          </p:nvPr>
        </p:nvGraphicFramePr>
        <p:xfrm>
          <a:off x="6021257" y="4703978"/>
          <a:ext cx="3865920" cy="109142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66480">
                  <a:extLst>
                    <a:ext uri="{9D8B030D-6E8A-4147-A177-3AD203B41FA5}">
                      <a16:colId xmlns:a16="http://schemas.microsoft.com/office/drawing/2014/main" val="878089305"/>
                    </a:ext>
                  </a:extLst>
                </a:gridCol>
                <a:gridCol w="966480">
                  <a:extLst>
                    <a:ext uri="{9D8B030D-6E8A-4147-A177-3AD203B41FA5}">
                      <a16:colId xmlns:a16="http://schemas.microsoft.com/office/drawing/2014/main" val="535268715"/>
                    </a:ext>
                  </a:extLst>
                </a:gridCol>
                <a:gridCol w="966480">
                  <a:extLst>
                    <a:ext uri="{9D8B030D-6E8A-4147-A177-3AD203B41FA5}">
                      <a16:colId xmlns:a16="http://schemas.microsoft.com/office/drawing/2014/main" val="1922029329"/>
                    </a:ext>
                  </a:extLst>
                </a:gridCol>
                <a:gridCol w="966480">
                  <a:extLst>
                    <a:ext uri="{9D8B030D-6E8A-4147-A177-3AD203B41FA5}">
                      <a16:colId xmlns:a16="http://schemas.microsoft.com/office/drawing/2014/main" val="3832557418"/>
                    </a:ext>
                  </a:extLst>
                </a:gridCol>
              </a:tblGrid>
              <a:tr h="436570"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сустав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Аналитика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Статика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ru-RU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Simscape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Отклонение (%)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2318706"/>
                  </a:ext>
                </a:extLst>
              </a:tr>
              <a:tr h="218285"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Сустав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 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2,12 Н·м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2,33 Н·м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+9,91%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2168773"/>
                  </a:ext>
                </a:extLst>
              </a:tr>
              <a:tr h="218285"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Сустав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1,47 Н·м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1,65 Н·м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+12,24%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0380886"/>
                  </a:ext>
                </a:extLst>
              </a:tr>
              <a:tr h="218285"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Сустав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0,89 Н·м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1,09 Н·м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+22,47%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496732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E67B561A-7AD5-5892-59E8-AA5D10352F94}"/>
              </a:ext>
            </a:extLst>
          </p:cNvPr>
          <p:cNvSpPr txBox="1"/>
          <p:nvPr/>
        </p:nvSpPr>
        <p:spPr>
          <a:xfrm>
            <a:off x="512380" y="3488331"/>
            <a:ext cx="249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q₂(t) = −0,5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π·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sin(0,2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0FE9D9-2AF9-77F1-6FF6-E8ECD0E582BF}"/>
              </a:ext>
            </a:extLst>
          </p:cNvPr>
          <p:cNvSpPr txBox="1"/>
          <p:nvPr/>
        </p:nvSpPr>
        <p:spPr>
          <a:xfrm>
            <a:off x="5650205" y="861946"/>
            <a:ext cx="507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Динамический момент во втором суставе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2077D7-A60B-FD84-1585-8A60EE10A8D2}"/>
              </a:ext>
            </a:extLst>
          </p:cNvPr>
          <p:cNvSpPr txBox="1"/>
          <p:nvPr/>
        </p:nvSpPr>
        <p:spPr>
          <a:xfrm>
            <a:off x="4967592" y="4302428"/>
            <a:ext cx="6440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статического расчёта и динамической модели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6C9304-DF3F-B2BD-22BB-902E43668E1C}"/>
              </a:ext>
            </a:extLst>
          </p:cNvPr>
          <p:cNvSpPr txBox="1"/>
          <p:nvPr/>
        </p:nvSpPr>
        <p:spPr>
          <a:xfrm>
            <a:off x="392047" y="3977911"/>
            <a:ext cx="3346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Пиковый скоростной режим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F1B2DB7-EE5A-DA27-08E9-5C7C305479D8}"/>
                  </a:ext>
                </a:extLst>
              </p:cNvPr>
              <p:cNvSpPr txBox="1"/>
              <p:nvPr/>
            </p:nvSpPr>
            <p:spPr>
              <a:xfrm>
                <a:off x="443011" y="4487094"/>
                <a:ext cx="34400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рад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с 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55</m:t>
                          </m:r>
                        </m:e>
                        <m:sup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с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F1B2DB7-EE5A-DA27-08E9-5C7C30547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11" y="4487094"/>
                <a:ext cx="3440002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5249881-8EA5-5D53-0A46-98B896031288}"/>
                  </a:ext>
                </a:extLst>
              </p:cNvPr>
              <p:cNvSpPr txBox="1"/>
              <p:nvPr/>
            </p:nvSpPr>
            <p:spPr>
              <a:xfrm>
                <a:off x="6997897" y="1696821"/>
                <a:ext cx="21082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2,33 </a:t>
                </a:r>
                <a:r>
                  <a:rPr lang="ru-RU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Н·м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5249881-8EA5-5D53-0A46-98B896031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897" y="1696821"/>
                <a:ext cx="2108265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52712998-601E-7A08-D5FE-C7D0527F22F9}"/>
              </a:ext>
            </a:extLst>
          </p:cNvPr>
          <p:cNvSpPr txBox="1"/>
          <p:nvPr/>
        </p:nvSpPr>
        <p:spPr>
          <a:xfrm>
            <a:off x="5101810" y="1790004"/>
            <a:ext cx="400110" cy="1998189"/>
          </a:xfrm>
          <a:prstGeom prst="rect">
            <a:avLst/>
          </a:prstGeom>
          <a:noFill/>
        </p:spPr>
        <p:txBody>
          <a:bodyPr vert="vert270" wrap="square">
            <a:spAutoFit/>
          </a:bodyPr>
          <a:lstStyle/>
          <a:p>
            <a:r>
              <a:rPr lang="ru-RU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Крутящий момент, (</a:t>
            </a:r>
            <a:r>
              <a:rPr lang="ru-RU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Н·м</a:t>
            </a:r>
            <a:r>
              <a:rPr lang="ru-RU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3632C98-E376-FC26-9A60-9E1D6BB0D392}"/>
              </a:ext>
            </a:extLst>
          </p:cNvPr>
          <p:cNvSpPr txBox="1"/>
          <p:nvPr/>
        </p:nvSpPr>
        <p:spPr>
          <a:xfrm>
            <a:off x="5101810" y="6156386"/>
            <a:ext cx="5247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выбора сервоприводов используются динамические значения </a:t>
            </a:r>
            <a:r>
              <a:rPr lang="ru-RU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ru-RU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2,33 / 1,65 / 1,09 </a:t>
            </a:r>
            <a:r>
              <a:rPr lang="ru-RU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Н·м</a:t>
            </a:r>
            <a:r>
              <a:rPr lang="ru-RU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14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动力矩">
            <a:hlinkClick r:id="" action="ppaction://media"/>
            <a:extLst>
              <a:ext uri="{FF2B5EF4-FFF2-40B4-BE49-F238E27FC236}">
                <a16:creationId xmlns:a16="http://schemas.microsoft.com/office/drawing/2014/main" id="{986C7492-DF57-F02B-A00B-599E1FA74F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50" y="0"/>
            <a:ext cx="12135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3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DCEF596-CF1B-0567-FE82-BFFA3DA9C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58725"/>
              </p:ext>
            </p:extLst>
          </p:nvPr>
        </p:nvGraphicFramePr>
        <p:xfrm>
          <a:off x="263867" y="2112371"/>
          <a:ext cx="6492114" cy="29423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64038">
                  <a:extLst>
                    <a:ext uri="{9D8B030D-6E8A-4147-A177-3AD203B41FA5}">
                      <a16:colId xmlns:a16="http://schemas.microsoft.com/office/drawing/2014/main" val="2701628864"/>
                    </a:ext>
                  </a:extLst>
                </a:gridCol>
                <a:gridCol w="2164038">
                  <a:extLst>
                    <a:ext uri="{9D8B030D-6E8A-4147-A177-3AD203B41FA5}">
                      <a16:colId xmlns:a16="http://schemas.microsoft.com/office/drawing/2014/main" val="2892159655"/>
                    </a:ext>
                  </a:extLst>
                </a:gridCol>
                <a:gridCol w="2164038">
                  <a:extLst>
                    <a:ext uri="{9D8B030D-6E8A-4147-A177-3AD203B41FA5}">
                      <a16:colId xmlns:a16="http://schemas.microsoft.com/office/drawing/2014/main" val="1182952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Параметр</a:t>
                      </a:r>
                      <a:r>
                        <a:rPr lang="en-US" sz="1600" kern="100" dirty="0">
                          <a:effectLst/>
                        </a:rPr>
                        <a:t> (</a:t>
                      </a:r>
                      <a:r>
                        <a:rPr lang="en-US" sz="1600" kern="100" dirty="0" err="1">
                          <a:effectLst/>
                        </a:rPr>
                        <a:t>Характеристика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LX-15D (</a:t>
                      </a:r>
                      <a:r>
                        <a:rPr lang="en-US" sz="1600" kern="100" dirty="0" err="1">
                          <a:effectLst/>
                        </a:rPr>
                        <a:t>Базовый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LX-225 (</a:t>
                      </a:r>
                      <a:r>
                        <a:rPr lang="en-US" sz="1600" kern="100" dirty="0" err="1">
                          <a:effectLst/>
                        </a:rPr>
                        <a:t>Усиленный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3830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Крутящий момент (7.4В)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1.67 </a:t>
                      </a:r>
                      <a:r>
                        <a:rPr lang="en-US" sz="1600" kern="100" dirty="0" err="1">
                          <a:effectLst/>
                        </a:rPr>
                        <a:t>Н·м</a:t>
                      </a:r>
                      <a:r>
                        <a:rPr lang="en-US" sz="1600" kern="100" dirty="0">
                          <a:effectLst/>
                        </a:rPr>
                        <a:t> (17 </a:t>
                      </a:r>
                      <a:r>
                        <a:rPr lang="en-US" sz="1600" kern="100" dirty="0" err="1">
                          <a:effectLst/>
                        </a:rPr>
                        <a:t>кг·см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2.45 </a:t>
                      </a:r>
                      <a:r>
                        <a:rPr lang="en-US" sz="1600" kern="100" dirty="0" err="1">
                          <a:effectLst/>
                        </a:rPr>
                        <a:t>Н·м</a:t>
                      </a:r>
                      <a:r>
                        <a:rPr lang="en-US" sz="1600" kern="100" dirty="0">
                          <a:effectLst/>
                        </a:rPr>
                        <a:t> (25 </a:t>
                      </a:r>
                      <a:r>
                        <a:rPr lang="en-US" sz="1600" kern="100" dirty="0" err="1">
                          <a:effectLst/>
                        </a:rPr>
                        <a:t>кг·см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991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Скорость вращения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0.22 </a:t>
                      </a:r>
                      <a:r>
                        <a:rPr lang="en-US" sz="1600" kern="100" dirty="0" err="1">
                          <a:effectLst/>
                        </a:rPr>
                        <a:t>сек</a:t>
                      </a:r>
                      <a:r>
                        <a:rPr lang="en-US" sz="1600" kern="100" dirty="0">
                          <a:effectLst/>
                        </a:rPr>
                        <a:t>/60°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0.20 сек/60°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3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Собственная масса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43 г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63 г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9761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Ток блокировки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2.4 ~ 3.0 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4.0 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1233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Рабочее напряжение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6.0 ~ 8.4 В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6.0 ~ 8.4 В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741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Протокол связи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UART (</a:t>
                      </a:r>
                      <a:r>
                        <a:rPr lang="en-US" sz="1600" kern="100" dirty="0" err="1">
                          <a:effectLst/>
                        </a:rPr>
                        <a:t>шина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UART (</a:t>
                      </a:r>
                      <a:r>
                        <a:rPr lang="en-US" sz="1600" kern="100" dirty="0" err="1">
                          <a:effectLst/>
                        </a:rPr>
                        <a:t>шина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559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Точность позиционирования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0.3°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7937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0.3°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246609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C7C261F-E335-1700-43F0-17E90F17E360}"/>
              </a:ext>
            </a:extLst>
          </p:cNvPr>
          <p:cNvSpPr txBox="1"/>
          <p:nvPr/>
        </p:nvSpPr>
        <p:spPr>
          <a:xfrm>
            <a:off x="487427" y="805304"/>
            <a:ext cx="7772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Сравнительные характеристики сервоприводов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Hiwonder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BC21C1-844B-104A-0D67-687CD47D9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495" y="2073616"/>
            <a:ext cx="2723853" cy="24457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D34D80-3BD1-B2DD-B4CB-3CD321F671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2" r="62202"/>
          <a:stretch>
            <a:fillRect/>
          </a:stretch>
        </p:blipFill>
        <p:spPr>
          <a:xfrm>
            <a:off x="6892006" y="2073616"/>
            <a:ext cx="2380464" cy="301984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2884A05-A37C-191A-7C15-8364B94FA1E2}"/>
              </a:ext>
            </a:extLst>
          </p:cNvPr>
          <p:cNvSpPr txBox="1"/>
          <p:nvPr/>
        </p:nvSpPr>
        <p:spPr>
          <a:xfrm>
            <a:off x="7829078" y="5031093"/>
            <a:ext cx="1137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LX-225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527141-426E-4CF0-3C96-FCBEB50E572A}"/>
              </a:ext>
            </a:extLst>
          </p:cNvPr>
          <p:cNvSpPr txBox="1"/>
          <p:nvPr/>
        </p:nvSpPr>
        <p:spPr>
          <a:xfrm>
            <a:off x="10330224" y="5031093"/>
            <a:ext cx="1300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LX-15D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09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9E82C0-3C76-3FA8-DBBA-C7BF278FCCE9}"/>
              </a:ext>
            </a:extLst>
          </p:cNvPr>
          <p:cNvSpPr/>
          <p:nvPr/>
        </p:nvSpPr>
        <p:spPr>
          <a:xfrm>
            <a:off x="511886" y="677700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и распределение сервоприводов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699837-B485-D3FC-A1F1-BAC13AC606F4}"/>
              </a:ext>
            </a:extLst>
          </p:cNvPr>
          <p:cNvSpPr/>
          <p:nvPr/>
        </p:nvSpPr>
        <p:spPr>
          <a:xfrm>
            <a:off x="511887" y="1625324"/>
            <a:ext cx="87582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выбора: усиление наиболее нагруженного плечевого сустава и облегчение дистальных звеньев.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D3682DD0-EA6A-99E2-B133-EC639B486D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8383017"/>
              </p:ext>
            </p:extLst>
          </p:nvPr>
        </p:nvGraphicFramePr>
        <p:xfrm>
          <a:off x="390056" y="2295143"/>
          <a:ext cx="4552238" cy="3168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B1D1B1E-1AE6-2FDF-826C-4494CABB9224}"/>
              </a:ext>
            </a:extLst>
          </p:cNvPr>
          <p:cNvSpPr txBox="1"/>
          <p:nvPr/>
        </p:nvSpPr>
        <p:spPr>
          <a:xfrm>
            <a:off x="5993349" y="2452735"/>
            <a:ext cx="4607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характеристик и выбор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AE6FEC-5DAC-C3AC-7D64-BADC40D50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18085"/>
              </p:ext>
            </p:extLst>
          </p:nvPr>
        </p:nvGraphicFramePr>
        <p:xfrm>
          <a:off x="5495475" y="3101133"/>
          <a:ext cx="5603132" cy="1950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5818">
                  <a:extLst>
                    <a:ext uri="{9D8B030D-6E8A-4147-A177-3AD203B41FA5}">
                      <a16:colId xmlns:a16="http://schemas.microsoft.com/office/drawing/2014/main" val="975400535"/>
                    </a:ext>
                  </a:extLst>
                </a:gridCol>
                <a:gridCol w="1034425">
                  <a:extLst>
                    <a:ext uri="{9D8B030D-6E8A-4147-A177-3AD203B41FA5}">
                      <a16:colId xmlns:a16="http://schemas.microsoft.com/office/drawing/2014/main" val="3835560693"/>
                    </a:ext>
                  </a:extLst>
                </a:gridCol>
                <a:gridCol w="1211816">
                  <a:extLst>
                    <a:ext uri="{9D8B030D-6E8A-4147-A177-3AD203B41FA5}">
                      <a16:colId xmlns:a16="http://schemas.microsoft.com/office/drawing/2014/main" val="946140414"/>
                    </a:ext>
                  </a:extLst>
                </a:gridCol>
                <a:gridCol w="1290536">
                  <a:extLst>
                    <a:ext uri="{9D8B030D-6E8A-4147-A177-3AD203B41FA5}">
                      <a16:colId xmlns:a16="http://schemas.microsoft.com/office/drawing/2014/main" val="3281286526"/>
                    </a:ext>
                  </a:extLst>
                </a:gridCol>
                <a:gridCol w="1290537">
                  <a:extLst>
                    <a:ext uri="{9D8B030D-6E8A-4147-A177-3AD203B41FA5}">
                      <a16:colId xmlns:a16="http://schemas.microsoft.com/office/drawing/2014/main" val="1541457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Сустав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Требуемый момент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Выбранный сервопривод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Момент сервопривода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Коэффициент запаса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58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2,33 Н·м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LX-225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2,45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Н·м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52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1,65 Н·м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LX-15D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1,67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Н·м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55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1,09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Н·м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LX-15D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1,67 Н·м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33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1 </a:t>
                      </a:r>
                    </a:p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0,5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Н·м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LX-15D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1,67 Н·м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03641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C209EEE-22CD-63C8-F4F6-3E60D587EF57}"/>
              </a:ext>
            </a:extLst>
          </p:cNvPr>
          <p:cNvSpPr txBox="1"/>
          <p:nvPr/>
        </p:nvSpPr>
        <p:spPr>
          <a:xfrm>
            <a:off x="5274803" y="5542364"/>
            <a:ext cx="5823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усиленный сервопривод LX-225 устанавливается в плечевом суставе Joint 2, а остальные суставы комплектуются более лёгкими сервоприводами LX-15D.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66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B989F-813D-D337-967B-2A0C6102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D79DD9-FA63-5467-1965-2D2F47939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70"/>
            <a:ext cx="12192000" cy="18590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2212DCB-624E-74AF-AC53-C9257A0122EE}"/>
              </a:ext>
            </a:extLst>
          </p:cNvPr>
          <p:cNvSpPr txBox="1"/>
          <p:nvPr/>
        </p:nvSpPr>
        <p:spPr>
          <a:xfrm>
            <a:off x="897057" y="738878"/>
            <a:ext cx="6094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A40F97-1A38-7362-3B94-5C374F8F32AF}"/>
              </a:ext>
            </a:extLst>
          </p:cNvPr>
          <p:cNvSpPr txBox="1"/>
          <p:nvPr/>
        </p:nvSpPr>
        <p:spPr>
          <a:xfrm>
            <a:off x="897057" y="1920825"/>
            <a:ext cx="944512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работы</a:t>
            </a: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Обоснована 5-осевая конструктивно-кинематическая схема манипулятора.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Разработана 3D/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-модель и проверена корректность движения.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Построены модели ПЗК и ОЗК для расчёта положения TCP и суставных углов.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Выполнен статический и динамический анализ моментов в суставах.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На основе динамических пиков выбрана конфигурация сервоприводов.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EBE2FE-89FA-ADA5-DE7B-17D1600BDB33}"/>
              </a:ext>
            </a:extLst>
          </p:cNvPr>
          <p:cNvSpPr txBox="1"/>
          <p:nvPr/>
        </p:nvSpPr>
        <p:spPr>
          <a:xfrm>
            <a:off x="897056" y="3969157"/>
            <a:ext cx="928116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</a:t>
            </a:r>
          </a:p>
          <a:p>
            <a:pPr>
              <a:buNone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Рабочий радиус: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ρmax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364 мм ≥ 360 мм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Номинальная нагрузка в расчёте: 0,5 кг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Пиковые моменты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2,33 / 1,65 / 1,09 </a:t>
            </a:r>
            <a:r>
              <a:rPr lang="ru-R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Н·м</a:t>
            </a:r>
            <a:b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Выбранные сервоприводы: LX-225 для Joint 2, LX-15D для остальных суставов</a:t>
            </a:r>
          </a:p>
        </p:txBody>
      </p:sp>
    </p:spTree>
    <p:extLst>
      <p:ext uri="{BB962C8B-B14F-4D97-AF65-F5344CB8AC3E}">
        <p14:creationId xmlns:p14="http://schemas.microsoft.com/office/powerpoint/2010/main" val="1888794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6" y="2792052"/>
            <a:ext cx="11211339" cy="1130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Спасибо за внимание!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463436" y="6062207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DEA"/>
              </a:buClr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LS Sector Regular" pitchFamily="2" charset="0"/>
                <a:ea typeface="+mn-ea"/>
                <a:cs typeface="ALS Sector Regular" pitchFamily="2" charset="0"/>
              </a:rPr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727127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24747</TotalTime>
  <Words>1379</Words>
  <Application>Microsoft Office PowerPoint</Application>
  <PresentationFormat>宽屏</PresentationFormat>
  <Paragraphs>215</Paragraphs>
  <Slides>16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Calibri</vt:lpstr>
      <vt:lpstr>Arial</vt:lpstr>
      <vt:lpstr>Cambria Math</vt:lpstr>
      <vt:lpstr>ALS Sector Regular</vt:lpstr>
      <vt:lpstr>Calibri Light</vt:lpstr>
      <vt:lpstr>Times New Roman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МГТУ им. Н.Э. Баумана</dc:title>
  <dc:subject/>
  <dc:creator>Katya Selivanova</dc:creator>
  <cp:keywords/>
  <dc:description/>
  <cp:lastModifiedBy>shen shen</cp:lastModifiedBy>
  <cp:revision>93</cp:revision>
  <dcterms:created xsi:type="dcterms:W3CDTF">2022-04-18T20:35:07Z</dcterms:created>
  <dcterms:modified xsi:type="dcterms:W3CDTF">2026-05-26T22:43:46Z</dcterms:modified>
  <cp:category/>
</cp:coreProperties>
</file>