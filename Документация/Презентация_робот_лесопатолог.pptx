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69" r:id="rId2"/>
    <p:sldId id="280" r:id="rId3"/>
    <p:sldId id="284" r:id="rId4"/>
    <p:sldId id="285" r:id="rId5"/>
    <p:sldId id="281" r:id="rId6"/>
    <p:sldId id="283" r:id="rId7"/>
    <p:sldId id="287" r:id="rId8"/>
    <p:sldId id="288" r:id="rId9"/>
    <p:sldId id="286" r:id="rId10"/>
    <p:sldId id="289" r:id="rId11"/>
    <p:sldId id="290" r:id="rId12"/>
    <p:sldId id="279" r:id="rId13"/>
  </p:sldIdLst>
  <p:sldSz cx="12192000" cy="6858000"/>
  <p:notesSz cx="6889750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4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E2EB"/>
    <a:srgbClr val="004769"/>
    <a:srgbClr val="EA6B14"/>
    <a:srgbClr val="8F41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505E3EF-67EA-436B-97B2-0124C06EBD24}" styleName="Средний стиль 4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269" autoAdjust="0"/>
    <p:restoredTop sz="94660"/>
  </p:normalViewPr>
  <p:slideViewPr>
    <p:cSldViewPr snapToGrid="0" showGuides="1">
      <p:cViewPr varScale="1">
        <p:scale>
          <a:sx n="44" d="100"/>
          <a:sy n="44" d="100"/>
        </p:scale>
        <p:origin x="48" y="941"/>
      </p:cViewPr>
      <p:guideLst>
        <p:guide orient="horz" pos="2160"/>
        <p:guide pos="3840"/>
        <p:guide orient="horz" pos="45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190DE83F-E497-4C1D-93F7-94B896B90CBC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6D329C17-2A2F-43D9-9232-FA7042A17A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543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1BDBA-250C-4E97-A2DA-11ACA4CB3DFB}" type="datetime1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776E-11F0-4387-AEF8-DDAA7A0F8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3345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9E4DA-074F-4431-95F2-BD295ACA924C}" type="datetime1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776E-11F0-4387-AEF8-DDAA7A0F8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4540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DFBDD-7158-4635-AD1D-185893C70AC1}" type="datetime1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776E-11F0-4387-AEF8-DDAA7A0F8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5836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A0389-3315-425B-A111-717E86845874}" type="datetime1">
              <a:rPr lang="ru-RU" smtClean="0"/>
              <a:t>19.04.2026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776E-11F0-4387-AEF8-DDAA7A0F8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560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3304-AD11-48DC-9B59-21279A40465D}" type="datetime1">
              <a:rPr lang="ru-RU" smtClean="0"/>
              <a:t>19.04.2026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776E-11F0-4387-AEF8-DDAA7A0F8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6929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7CF7C-5E93-4F89-9755-C113FFD8C65F}" type="datetime1">
              <a:rPr lang="ru-RU" smtClean="0"/>
              <a:t>19.04.2026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776E-11F0-4387-AEF8-DDAA7A0F8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7772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AE1E-57E8-4A4E-AC18-1FE2D72D4CFF}" type="datetime1">
              <a:rPr lang="ru-RU" smtClean="0"/>
              <a:t>19.04.2026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776E-11F0-4387-AEF8-DDAA7A0F8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5658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4BED-01F8-4CFC-8649-811E75821BD0}" type="datetime1">
              <a:rPr lang="ru-RU" smtClean="0"/>
              <a:t>19.04.2026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776E-11F0-4387-AEF8-DDAA7A0F8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253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7C238-6AC4-4A7F-8093-9A80435A4146}" type="datetime1">
              <a:rPr lang="ru-RU" smtClean="0"/>
              <a:t>19.04.2026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776E-11F0-4387-AEF8-DDAA7A0F8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7613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6D6C-8A44-4857-B111-FB963846BCBB}" type="datetime1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776E-11F0-4387-AEF8-DDAA7A0F8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3897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BEE-67CD-406A-92DE-29DCC62BFADB}" type="datetime1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776E-11F0-4387-AEF8-DDAA7A0F8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183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5FC1E-A50F-4BAF-9924-5B81B6283EF7}" type="datetime1">
              <a:rPr lang="ru-RU" smtClean="0"/>
              <a:t>19.04.2026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005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9F6D5-10EA-4D36-8137-071B3A8AAE1E}" type="datetime1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1776E-11F0-4387-AEF8-DDAA7A0F8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52552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artemksannikov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BB9D7-A64F-4413-9773-A14CF4AB6A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CDF4FA-5795-4F3B-A71C-6A504AB8ED5A}"/>
              </a:ext>
            </a:extLst>
          </p:cNvPr>
          <p:cNvSpPr txBox="1"/>
          <p:nvPr/>
        </p:nvSpPr>
        <p:spPr>
          <a:xfrm>
            <a:off x="126651" y="5646649"/>
            <a:ext cx="98958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spc="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Санников Артём Константинович</a:t>
            </a:r>
            <a:br>
              <a:rPr lang="ru-RU" sz="2400" spc="400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sz="2400" spc="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СМ7-11М</a:t>
            </a:r>
            <a:br>
              <a:rPr lang="ru-RU" sz="2400" spc="400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sz="2400" spc="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Науч. Руководитель: Гуляев Игорь Анатольевич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5EA9A5-427E-4D3E-8846-1FB84B6C2D88}"/>
              </a:ext>
            </a:extLst>
          </p:cNvPr>
          <p:cNvSpPr txBox="1"/>
          <p:nvPr/>
        </p:nvSpPr>
        <p:spPr>
          <a:xfrm>
            <a:off x="458161" y="1969245"/>
            <a:ext cx="10571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spc="400" dirty="0">
                <a:solidFill>
                  <a:schemeClr val="bg1">
                    <a:lumMod val="95000"/>
                    <a:lumOff val="5000"/>
                  </a:schemeClr>
                </a:solidFill>
                <a:latin typeface="ST-Donbass" pitchFamily="2" charset="0"/>
              </a:rPr>
              <a:t>Колёсный автономный робот повышенной проходимости для патрулирования и осмотра лесной местности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B28F7EF-7F18-48EB-91E5-80AB5E586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995" y="106517"/>
            <a:ext cx="1018923" cy="1202329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17DE44F-AF4E-4259-89F3-319307ADF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776E-11F0-4387-AEF8-DDAA7A0F83DB}" type="slidenum">
              <a:rPr lang="ru-RU" smtClean="0">
                <a:solidFill>
                  <a:schemeClr val="bg1"/>
                </a:solidFill>
              </a:rPr>
              <a:t>1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606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8E6AACF-0A35-488D-A6C9-22288CCDD4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62212B-D869-4146-946E-B5D383C58151}"/>
              </a:ext>
            </a:extLst>
          </p:cNvPr>
          <p:cNvSpPr txBox="1"/>
          <p:nvPr/>
        </p:nvSpPr>
        <p:spPr>
          <a:xfrm>
            <a:off x="273583" y="6745"/>
            <a:ext cx="92512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i="1" spc="400" dirty="0">
                <a:solidFill>
                  <a:schemeClr val="bg1">
                    <a:lumMod val="95000"/>
                    <a:lumOff val="5000"/>
                  </a:schemeClr>
                </a:solidFill>
                <a:latin typeface="ST-Donbass" pitchFamily="2" charset="0"/>
              </a:rPr>
              <a:t>Актуальность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00E0058-5007-4219-8752-1CE135775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5877" y="115483"/>
            <a:ext cx="680112" cy="80253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D69BEDC-79C7-468B-9ECB-789159C6C747}"/>
              </a:ext>
            </a:extLst>
          </p:cNvPr>
          <p:cNvSpPr txBox="1"/>
          <p:nvPr/>
        </p:nvSpPr>
        <p:spPr>
          <a:xfrm>
            <a:off x="236011" y="831037"/>
            <a:ext cx="5295731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Площадь лесов московской области</a:t>
            </a:r>
            <a:r>
              <a:rPr lang="en-US" dirty="0">
                <a:solidFill>
                  <a:schemeClr val="bg1"/>
                </a:solidFill>
              </a:rPr>
              <a:t> -</a:t>
            </a:r>
            <a:r>
              <a:rPr lang="ru-RU" dirty="0">
                <a:solidFill>
                  <a:schemeClr val="bg1"/>
                </a:solidFill>
              </a:rPr>
              <a:t> </a:t>
            </a:r>
          </a:p>
          <a:p>
            <a:r>
              <a:rPr lang="ru-RU" sz="2400" dirty="0">
                <a:solidFill>
                  <a:schemeClr val="bg1"/>
                </a:solidFill>
                <a:latin typeface="ST-Donbass" pitchFamily="2" charset="0"/>
              </a:rPr>
              <a:t>1 883 329 Га </a:t>
            </a:r>
            <a:endParaRPr lang="en-US" sz="2400" dirty="0">
              <a:solidFill>
                <a:schemeClr val="bg1"/>
              </a:solidFill>
              <a:latin typeface="ST-Donbass" pitchFamily="2" charset="0"/>
            </a:endParaRPr>
          </a:p>
          <a:p>
            <a:endParaRPr lang="ru-RU" sz="2000" dirty="0">
              <a:solidFill>
                <a:schemeClr val="bg1"/>
              </a:solidFill>
              <a:latin typeface="ST-Donbass" pitchFamily="2" charset="0"/>
            </a:endParaRPr>
          </a:p>
          <a:p>
            <a:r>
              <a:rPr lang="ru-RU" dirty="0">
                <a:solidFill>
                  <a:schemeClr val="bg1"/>
                </a:solidFill>
              </a:rPr>
              <a:t>Протяженность маршрутов лесоохраны </a:t>
            </a:r>
          </a:p>
          <a:p>
            <a:r>
              <a:rPr lang="ru-RU" sz="2400" dirty="0">
                <a:solidFill>
                  <a:schemeClr val="bg1"/>
                </a:solidFill>
                <a:latin typeface="ST-Donbass" pitchFamily="2" charset="0"/>
              </a:rPr>
              <a:t>400-800 Км</a:t>
            </a:r>
          </a:p>
          <a:p>
            <a:endParaRPr lang="ru-RU" sz="2400" dirty="0">
              <a:solidFill>
                <a:schemeClr val="bg1"/>
              </a:solidFill>
              <a:latin typeface="ST-Donbass" pitchFamily="2" charset="0"/>
            </a:endParaRPr>
          </a:p>
          <a:p>
            <a:r>
              <a:rPr lang="ru-RU" dirty="0">
                <a:solidFill>
                  <a:schemeClr val="bg1"/>
                </a:solidFill>
              </a:rPr>
              <a:t>Ежегодно лесные массивы подвергаются опасностям: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ST-Donbass" pitchFamily="2" charset="0"/>
              </a:rPr>
              <a:t>Очаги вредителей и болезней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ST-Donbass" pitchFamily="2" charset="0"/>
              </a:rPr>
              <a:t>Свалки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ST-Donbass" pitchFamily="2" charset="0"/>
              </a:rPr>
              <a:t>Дефолиация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ST-Donbass" pitchFamily="2" charset="0"/>
              </a:rPr>
              <a:t>Загрязнение окружающей среды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2000" dirty="0">
              <a:solidFill>
                <a:schemeClr val="bg1"/>
              </a:solidFill>
              <a:latin typeface="ST-Donbass" pitchFamily="2" charset="0"/>
            </a:endParaRPr>
          </a:p>
          <a:p>
            <a:r>
              <a:rPr lang="ru-RU" dirty="0">
                <a:solidFill>
                  <a:schemeClr val="bg1"/>
                </a:solidFill>
              </a:rPr>
              <a:t>На проведение таксационных исследований тратится сотни </a:t>
            </a:r>
            <a:r>
              <a:rPr lang="ru-RU" dirty="0" err="1">
                <a:solidFill>
                  <a:schemeClr val="bg1"/>
                </a:solidFill>
              </a:rPr>
              <a:t>человекочасов</a:t>
            </a:r>
            <a:br>
              <a:rPr lang="ru-RU" dirty="0">
                <a:solidFill>
                  <a:schemeClr val="bg1"/>
                </a:solidFill>
              </a:rPr>
            </a:br>
            <a:br>
              <a:rPr lang="ru-RU" dirty="0">
                <a:solidFill>
                  <a:schemeClr val="bg1"/>
                </a:solidFill>
              </a:rPr>
            </a:br>
            <a:endParaRPr lang="ru-RU" sz="2800" dirty="0">
              <a:solidFill>
                <a:schemeClr val="bg1"/>
              </a:solidFill>
              <a:latin typeface="ST-Donbass" pitchFamily="2" charset="0"/>
            </a:endParaRPr>
          </a:p>
          <a:p>
            <a:endParaRPr lang="en-US" sz="2800" dirty="0">
              <a:solidFill>
                <a:schemeClr val="bg1"/>
              </a:solidFill>
              <a:latin typeface="ST-Donbass" pitchFamily="2" charset="0"/>
            </a:endParaRPr>
          </a:p>
          <a:p>
            <a:endParaRPr lang="ru-RU" sz="2400" dirty="0">
              <a:solidFill>
                <a:schemeClr val="bg1"/>
              </a:solidFill>
              <a:latin typeface="ST-Donbass" pitchFamily="2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D08BD8E-5E3D-4CE0-B5F8-C30D4E8FBBB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569314" y="1064106"/>
            <a:ext cx="6501311" cy="435243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94BA478-0565-4DDC-9FD0-FB33DE5E05B4}"/>
              </a:ext>
            </a:extLst>
          </p:cNvPr>
          <p:cNvSpPr txBox="1"/>
          <p:nvPr/>
        </p:nvSpPr>
        <p:spPr>
          <a:xfrm>
            <a:off x="5940992" y="5624086"/>
            <a:ext cx="584175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Рис. 1 Карта маршрутов лесоохраны предоставленная ГАУМО «</a:t>
            </a:r>
            <a:r>
              <a:rPr lang="ru-RU" sz="2000" dirty="0" err="1">
                <a:solidFill>
                  <a:schemeClr val="bg1"/>
                </a:solidFill>
              </a:rPr>
              <a:t>Мособллес</a:t>
            </a:r>
            <a:r>
              <a:rPr lang="ru-RU" sz="2000" dirty="0">
                <a:solidFill>
                  <a:schemeClr val="bg1"/>
                </a:solidFill>
              </a:rPr>
              <a:t>»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  <a:latin typeface="ST-Donbass" pitchFamily="2" charset="0"/>
            </a:endParaRPr>
          </a:p>
          <a:p>
            <a:endParaRPr lang="ru-RU" sz="2400" dirty="0">
              <a:solidFill>
                <a:schemeClr val="bg1"/>
              </a:solidFill>
              <a:latin typeface="ST-Donbass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D52FD3-C5F1-4B33-B092-8AE327B18B65}"/>
              </a:ext>
            </a:extLst>
          </p:cNvPr>
          <p:cNvSpPr txBox="1"/>
          <p:nvPr/>
        </p:nvSpPr>
        <p:spPr>
          <a:xfrm>
            <a:off x="236011" y="553710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С целью оптимизации и увеличения качества ухода за лесом </a:t>
            </a:r>
            <a:r>
              <a:rPr lang="ru-RU" sz="1800" dirty="0">
                <a:solidFill>
                  <a:schemeClr val="bg1"/>
                </a:solidFill>
              </a:rPr>
              <a:t>ГАУМО «</a:t>
            </a:r>
            <a:r>
              <a:rPr lang="ru-RU" sz="1800" dirty="0" err="1">
                <a:solidFill>
                  <a:schemeClr val="bg1"/>
                </a:solidFill>
              </a:rPr>
              <a:t>Мособллес</a:t>
            </a:r>
            <a:r>
              <a:rPr lang="ru-RU" sz="1800" dirty="0">
                <a:solidFill>
                  <a:schemeClr val="bg1"/>
                </a:solidFill>
              </a:rPr>
              <a:t>» рассматривает варианты роботизации и автоматизации мониторинга лесных массивов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809186-A125-4167-9D8B-53BB29EA610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>
                <a:solidFill>
                  <a:schemeClr val="bg1"/>
                </a:solidFill>
              </a:rPr>
              <a:t>2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2030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8E6AACF-0A35-488D-A6C9-22288CCDD4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62212B-D869-4146-946E-B5D383C58151}"/>
              </a:ext>
            </a:extLst>
          </p:cNvPr>
          <p:cNvSpPr txBox="1"/>
          <p:nvPr/>
        </p:nvSpPr>
        <p:spPr>
          <a:xfrm>
            <a:off x="273583" y="6745"/>
            <a:ext cx="92512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i="1" spc="400" dirty="0">
                <a:solidFill>
                  <a:schemeClr val="bg1">
                    <a:lumMod val="95000"/>
                    <a:lumOff val="5000"/>
                  </a:schemeClr>
                </a:solidFill>
                <a:latin typeface="ST-Donbass" pitchFamily="2" charset="0"/>
              </a:rPr>
              <a:t>Постановка задачи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00E0058-5007-4219-8752-1CE135775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5877" y="115483"/>
            <a:ext cx="680112" cy="8025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0635E3-CBC1-4197-BFBB-F744FCD9AA46}"/>
              </a:ext>
            </a:extLst>
          </p:cNvPr>
          <p:cNvSpPr txBox="1"/>
          <p:nvPr/>
        </p:nvSpPr>
        <p:spPr>
          <a:xfrm>
            <a:off x="170616" y="870757"/>
            <a:ext cx="114408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Заказчиком было предоставлено ТЗ с перечнем необходимого функционала и требованиям к системе которая была разбита на несколько частей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7D8663-A7AD-44A8-A6AB-49AF04234432}"/>
              </a:ext>
            </a:extLst>
          </p:cNvPr>
          <p:cNvSpPr txBox="1"/>
          <p:nvPr/>
        </p:nvSpPr>
        <p:spPr>
          <a:xfrm>
            <a:off x="1379402" y="4965845"/>
            <a:ext cx="331476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Рис. 2 Структура системы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  <a:latin typeface="ST-Donbass" pitchFamily="2" charset="0"/>
            </a:endParaRPr>
          </a:p>
          <a:p>
            <a:endParaRPr lang="ru-RU" sz="2400" dirty="0">
              <a:solidFill>
                <a:schemeClr val="bg1"/>
              </a:solidFill>
              <a:latin typeface="ST-Donbass" pitchFamily="2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1F022B4-3077-4930-B4BA-4645F8138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937" y="1420665"/>
            <a:ext cx="5810329" cy="4934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400" dirty="0">
                <a:solidFill>
                  <a:schemeClr val="bg1"/>
                </a:solidFill>
              </a:rPr>
              <a:t>Задачи поставленные перед системой: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Автономное передвижение и обследование территории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Навигация, локализация и картографирование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Инвентаризация и идентификация деревьев</a:t>
            </a:r>
            <a:endParaRPr lang="ru-RU" altLang="ru-RU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Диагностика состояния насаждений</a:t>
            </a:r>
            <a:endParaRPr lang="ru-RU" altLang="ru-RU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Мультисенсорный анализ состояния леса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Выявление и анализ очагов угроз</a:t>
            </a:r>
            <a:endParaRPr lang="ru-RU" altLang="ru-RU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Сбор данных и составление отчетов</a:t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2B7EB3D-951A-47AB-8903-AA99C689B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09" y="1829374"/>
            <a:ext cx="5708555" cy="301018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606B441-78AA-4B53-AF59-ADCFD91B1840}"/>
              </a:ext>
            </a:extLst>
          </p:cNvPr>
          <p:cNvSpPr txBox="1"/>
          <p:nvPr/>
        </p:nvSpPr>
        <p:spPr>
          <a:xfrm>
            <a:off x="170615" y="6092280"/>
            <a:ext cx="114408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В рамках данной работы ведется разработка автономной колесной платформы, при этом БПЛА и дрон станция используется как готовое изделие</a:t>
            </a: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7836100A-A399-474E-ACE3-A633B6732EA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>
                <a:solidFill>
                  <a:schemeClr val="bg1"/>
                </a:solidFill>
              </a:rPr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2695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8E6AACF-0A35-488D-A6C9-22288CCDD4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62212B-D869-4146-946E-B5D383C58151}"/>
              </a:ext>
            </a:extLst>
          </p:cNvPr>
          <p:cNvSpPr txBox="1"/>
          <p:nvPr/>
        </p:nvSpPr>
        <p:spPr>
          <a:xfrm>
            <a:off x="273583" y="6745"/>
            <a:ext cx="92512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i="1" spc="400" dirty="0">
                <a:solidFill>
                  <a:schemeClr val="bg1">
                    <a:lumMod val="95000"/>
                    <a:lumOff val="5000"/>
                  </a:schemeClr>
                </a:solidFill>
                <a:latin typeface="ST-Donbass" pitchFamily="2" charset="0"/>
              </a:rPr>
              <a:t>Создание функциональной схемы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0635E3-CBC1-4197-BFBB-F744FCD9AA46}"/>
              </a:ext>
            </a:extLst>
          </p:cNvPr>
          <p:cNvSpPr txBox="1"/>
          <p:nvPr/>
        </p:nvSpPr>
        <p:spPr>
          <a:xfrm>
            <a:off x="236011" y="820441"/>
            <a:ext cx="64249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Робот будет передвигаться по грунтовым дорогам и широким тропам и запускать БПЛА для облета труднопроходимой местности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41C9208-1617-413A-933D-9688DB973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539" y="746057"/>
            <a:ext cx="5124450" cy="606742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00E0058-5007-4219-8752-1CE135775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5877" y="115483"/>
            <a:ext cx="680112" cy="80253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2B17AF0-BDEC-40E9-90CF-FA0D1E24914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471" y="1886420"/>
            <a:ext cx="4514329" cy="4342876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7D8663-A7AD-44A8-A6AB-49AF04234432}"/>
              </a:ext>
            </a:extLst>
          </p:cNvPr>
          <p:cNvSpPr txBox="1"/>
          <p:nvPr/>
        </p:nvSpPr>
        <p:spPr>
          <a:xfrm>
            <a:off x="7822947" y="1070812"/>
            <a:ext cx="419843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>
                <a:solidFill>
                  <a:schemeClr val="bg1"/>
                </a:solidFill>
              </a:rPr>
              <a:t>Рис. 3 Функциональная схема системы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  <a:latin typeface="ST-Donbass" pitchFamily="2" charset="0"/>
            </a:endParaRPr>
          </a:p>
          <a:p>
            <a:endParaRPr lang="ru-RU" sz="2400" dirty="0">
              <a:solidFill>
                <a:schemeClr val="bg1"/>
              </a:solidFill>
              <a:latin typeface="ST-Donbass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34CCB8-7496-4543-A3AA-1B968A17A712}"/>
              </a:ext>
            </a:extLst>
          </p:cNvPr>
          <p:cNvSpPr txBox="1"/>
          <p:nvPr/>
        </p:nvSpPr>
        <p:spPr>
          <a:xfrm>
            <a:off x="170616" y="6229296"/>
            <a:ext cx="492713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Рис. 4 Схема передвижения </a:t>
            </a:r>
            <a:r>
              <a:rPr lang="ru-RU" sz="2000" dirty="0" err="1">
                <a:solidFill>
                  <a:schemeClr val="bg1"/>
                </a:solidFill>
              </a:rPr>
              <a:t>плафтормы</a:t>
            </a:r>
            <a:r>
              <a:rPr lang="ru-RU" sz="2000" dirty="0">
                <a:solidFill>
                  <a:schemeClr val="bg1"/>
                </a:solidFill>
              </a:rPr>
              <a:t> и БПЛА</a:t>
            </a:r>
            <a:endParaRPr lang="en-US" sz="2400" dirty="0">
              <a:solidFill>
                <a:schemeClr val="bg1"/>
              </a:solidFill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ST-Donbass" pitchFamily="2" charset="0"/>
            </a:endParaRPr>
          </a:p>
          <a:p>
            <a:pPr algn="ctr"/>
            <a:endParaRPr lang="ru-RU" sz="2400" dirty="0">
              <a:solidFill>
                <a:schemeClr val="bg1"/>
              </a:solidFill>
              <a:latin typeface="ST-Donbass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9F451B-E729-4200-BE34-5EF01E8E242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977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8E6AACF-0A35-488D-A6C9-22288CCDD4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62212B-D869-4146-946E-B5D383C58151}"/>
              </a:ext>
            </a:extLst>
          </p:cNvPr>
          <p:cNvSpPr txBox="1"/>
          <p:nvPr/>
        </p:nvSpPr>
        <p:spPr>
          <a:xfrm>
            <a:off x="273583" y="6745"/>
            <a:ext cx="92512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i="1" spc="400" dirty="0">
                <a:solidFill>
                  <a:schemeClr val="bg1">
                    <a:lumMod val="95000"/>
                    <a:lumOff val="5000"/>
                  </a:schemeClr>
                </a:solidFill>
                <a:latin typeface="ST-Donbass" pitchFamily="2" charset="0"/>
              </a:rPr>
              <a:t>Обработка данных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69BEDC-79C7-468B-9ECB-789159C6C747}"/>
              </a:ext>
            </a:extLst>
          </p:cNvPr>
          <p:cNvSpPr txBox="1"/>
          <p:nvPr/>
        </p:nvSpPr>
        <p:spPr>
          <a:xfrm>
            <a:off x="273581" y="985955"/>
            <a:ext cx="108820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Наиболее эффективное решение – разделить системы сбора данных и обработку, это позволит удешевить роботизированную платформу, снизить риски и не ограничивать функционал, так как на основе сырых данных можно анализировать информацию по нескольким критериям и целям последовательно </a:t>
            </a:r>
          </a:p>
        </p:txBody>
      </p:sp>
      <p:pic>
        <p:nvPicPr>
          <p:cNvPr id="4098" name="Picture 2" descr="Заказать плотное облако точек (план) местности | Алтум">
            <a:extLst>
              <a:ext uri="{FF2B5EF4-FFF2-40B4-BE49-F238E27FC236}">
                <a16:creationId xmlns:a16="http://schemas.microsoft.com/office/drawing/2014/main" id="{D97683FD-DD5F-42AE-97B5-6C7699A49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897" y="2039439"/>
            <a:ext cx="4475849" cy="2779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8680E58-F907-4609-8F30-4690DC2CD82A}"/>
              </a:ext>
            </a:extLst>
          </p:cNvPr>
          <p:cNvSpPr txBox="1"/>
          <p:nvPr/>
        </p:nvSpPr>
        <p:spPr>
          <a:xfrm>
            <a:off x="7719253" y="4818561"/>
            <a:ext cx="3894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Рис. 7 Карта на основе облака точек</a:t>
            </a:r>
          </a:p>
        </p:txBody>
      </p:sp>
      <p:pic>
        <p:nvPicPr>
          <p:cNvPr id="4100" name="Picture 4" descr="Купить Lidar 360 Forestry программное обеспечение - цена в Москве с  доставкой по России.">
            <a:extLst>
              <a:ext uri="{FF2B5EF4-FFF2-40B4-BE49-F238E27FC236}">
                <a16:creationId xmlns:a16="http://schemas.microsoft.com/office/drawing/2014/main" id="{72194390-FB73-406A-B19C-06900BFA2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8590" y="2039438"/>
            <a:ext cx="2779121" cy="277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454C7DF-DA41-4557-947E-E3B23665420F}"/>
              </a:ext>
            </a:extLst>
          </p:cNvPr>
          <p:cNvSpPr txBox="1"/>
          <p:nvPr/>
        </p:nvSpPr>
        <p:spPr>
          <a:xfrm>
            <a:off x="3767456" y="4904892"/>
            <a:ext cx="3894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Рис. 6 Классификация деревьев</a:t>
            </a:r>
          </a:p>
        </p:txBody>
      </p:sp>
      <p:pic>
        <p:nvPicPr>
          <p:cNvPr id="4102" name="Picture 6" descr="360 VR Виртуальная реальность дикого леса. Сосновый лес, небольшая быстрая,  холодная горная река. Национальный парк">
            <a:extLst>
              <a:ext uri="{FF2B5EF4-FFF2-40B4-BE49-F238E27FC236}">
                <a16:creationId xmlns:a16="http://schemas.microsoft.com/office/drawing/2014/main" id="{A21A4D2F-4806-4953-88C5-2848C6D1A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32" y="2243135"/>
            <a:ext cx="4066726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420A921-E410-4DE9-AE77-8CFCFCB92115}"/>
              </a:ext>
            </a:extLst>
          </p:cNvPr>
          <p:cNvSpPr txBox="1"/>
          <p:nvPr/>
        </p:nvSpPr>
        <p:spPr>
          <a:xfrm>
            <a:off x="54987" y="4720224"/>
            <a:ext cx="3894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Рис. 5 </a:t>
            </a:r>
            <a:r>
              <a:rPr lang="en-US" dirty="0">
                <a:solidFill>
                  <a:schemeClr val="bg1"/>
                </a:solidFill>
              </a:rPr>
              <a:t>RGB 360-</a:t>
            </a:r>
            <a:r>
              <a:rPr lang="ru-RU" dirty="0">
                <a:solidFill>
                  <a:schemeClr val="bg1"/>
                </a:solidFill>
              </a:rPr>
              <a:t>видео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039E62-B2A3-4F8D-ABA1-631FDE21933E}"/>
              </a:ext>
            </a:extLst>
          </p:cNvPr>
          <p:cNvSpPr txBox="1"/>
          <p:nvPr/>
        </p:nvSpPr>
        <p:spPr>
          <a:xfrm>
            <a:off x="77966" y="5333449"/>
            <a:ext cx="120360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На основе полученных сырых данных можно составлять отчеты как статистического характера так и локальных проблем: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- Виды деревьев и их количество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- Диаметры стволов деревьев и средние показатели</a:t>
            </a:r>
          </a:p>
          <a:p>
            <a:r>
              <a:rPr lang="ru-RU" dirty="0">
                <a:solidFill>
                  <a:schemeClr val="bg1"/>
                </a:solidFill>
              </a:rPr>
              <a:t>- Детектирование локальных проблем (вредители, свалки)</a:t>
            </a:r>
          </a:p>
          <a:p>
            <a:r>
              <a:rPr lang="ru-RU" dirty="0">
                <a:solidFill>
                  <a:schemeClr val="bg1"/>
                </a:solidFill>
              </a:rPr>
              <a:t>- Разметка поврежденных насаждений и привязка к реальным координатам</a:t>
            </a:r>
          </a:p>
          <a:p>
            <a:r>
              <a:rPr lang="ru-RU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124D54C-9511-437E-AE51-F98F54C3D4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5877" y="115483"/>
            <a:ext cx="680112" cy="802532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4EA6306-204F-4DE4-B33D-EF8DAC245F0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>
                <a:solidFill>
                  <a:schemeClr val="bg1"/>
                </a:solidFill>
              </a:rPr>
              <a:t>5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640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8E6AACF-0A35-488D-A6C9-22288CCDD4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62212B-D869-4146-946E-B5D383C58151}"/>
              </a:ext>
            </a:extLst>
          </p:cNvPr>
          <p:cNvSpPr txBox="1"/>
          <p:nvPr/>
        </p:nvSpPr>
        <p:spPr>
          <a:xfrm>
            <a:off x="273583" y="6745"/>
            <a:ext cx="92512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i="1" spc="400" dirty="0">
                <a:solidFill>
                  <a:schemeClr val="bg1">
                    <a:lumMod val="95000"/>
                    <a:lumOff val="5000"/>
                  </a:schemeClr>
                </a:solidFill>
                <a:latin typeface="ST-Donbass" pitchFamily="2" charset="0"/>
              </a:rPr>
              <a:t>Используемые технологии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69BEDC-79C7-468B-9ECB-789159C6C747}"/>
              </a:ext>
            </a:extLst>
          </p:cNvPr>
          <p:cNvSpPr txBox="1"/>
          <p:nvPr/>
        </p:nvSpPr>
        <p:spPr>
          <a:xfrm>
            <a:off x="273583" y="989135"/>
            <a:ext cx="8961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Для достижения результатов планируется использование следующих технологий: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2EB17C-F6B8-470F-A856-83C641B12004}"/>
              </a:ext>
            </a:extLst>
          </p:cNvPr>
          <p:cNvSpPr txBox="1"/>
          <p:nvPr/>
        </p:nvSpPr>
        <p:spPr>
          <a:xfrm>
            <a:off x="273583" y="5868865"/>
            <a:ext cx="34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Рис. 8 Системы машинного зрения, </a:t>
            </a:r>
            <a:r>
              <a:rPr lang="ru-RU" dirty="0" err="1">
                <a:solidFill>
                  <a:schemeClr val="bg1"/>
                </a:solidFill>
              </a:rPr>
              <a:t>Лидар</a:t>
            </a:r>
            <a:r>
              <a:rPr lang="ru-RU" dirty="0">
                <a:solidFill>
                  <a:schemeClr val="bg1"/>
                </a:solidFill>
              </a:rPr>
              <a:t>, </a:t>
            </a:r>
            <a:r>
              <a:rPr lang="en-US" dirty="0">
                <a:solidFill>
                  <a:schemeClr val="bg1"/>
                </a:solidFill>
              </a:rPr>
              <a:t>RGB</a:t>
            </a:r>
            <a:r>
              <a:rPr lang="ru-RU" dirty="0">
                <a:solidFill>
                  <a:schemeClr val="bg1"/>
                </a:solidFill>
              </a:rPr>
              <a:t>-камера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9A16D54-373B-47C2-9F0D-6775EF235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20" y="4458544"/>
            <a:ext cx="3395980" cy="1199913"/>
          </a:xfrm>
          <a:prstGeom prst="rect">
            <a:avLst/>
          </a:prstGeom>
        </p:spPr>
      </p:pic>
      <p:pic>
        <p:nvPicPr>
          <p:cNvPr id="2052" name="Picture 4" descr="LSLIDAR 32-Lijns Mechanische LiDAR - RobotShop">
            <a:extLst>
              <a:ext uri="{FF2B5EF4-FFF2-40B4-BE49-F238E27FC236}">
                <a16:creationId xmlns:a16="http://schemas.microsoft.com/office/drawing/2014/main" id="{A35BCD81-2FB0-4BFC-A3F7-53976ABAA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20" y="1638300"/>
            <a:ext cx="2766060" cy="2766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Навигация мобильных роботов (метод SLAM)">
            <a:extLst>
              <a:ext uri="{FF2B5EF4-FFF2-40B4-BE49-F238E27FC236}">
                <a16:creationId xmlns:a16="http://schemas.microsoft.com/office/drawing/2014/main" id="{2FC2B7B5-7202-4DDC-AC79-DD70A05A2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0017" y="3542178"/>
            <a:ext cx="3084768" cy="2199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F4007C-B1B8-45E2-B1AA-B14C36391EE9}"/>
              </a:ext>
            </a:extLst>
          </p:cNvPr>
          <p:cNvSpPr txBox="1"/>
          <p:nvPr/>
        </p:nvSpPr>
        <p:spPr>
          <a:xfrm>
            <a:off x="3749593" y="5868865"/>
            <a:ext cx="3485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Рис. 9 </a:t>
            </a:r>
            <a:r>
              <a:rPr lang="en-US" dirty="0">
                <a:solidFill>
                  <a:schemeClr val="bg1"/>
                </a:solidFill>
              </a:rPr>
              <a:t>SLAM</a:t>
            </a:r>
            <a:r>
              <a:rPr lang="ru-RU" dirty="0">
                <a:solidFill>
                  <a:schemeClr val="bg1"/>
                </a:solidFill>
              </a:rPr>
              <a:t>-навигация мобильных роботов и автономное передвижение</a:t>
            </a:r>
          </a:p>
        </p:txBody>
      </p:sp>
      <p:pic>
        <p:nvPicPr>
          <p:cNvPr id="2056" name="Picture 8" descr="End-to-end UAV v-SLAM and navigation simulator. | Download Scientific  Diagram">
            <a:extLst>
              <a:ext uri="{FF2B5EF4-FFF2-40B4-BE49-F238E27FC236}">
                <a16:creationId xmlns:a16="http://schemas.microsoft.com/office/drawing/2014/main" id="{D3763F30-A3BE-4AA7-BAC4-746A32A9F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0017" y="1412281"/>
            <a:ext cx="2076082" cy="2076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Что такое сервер">
            <a:extLst>
              <a:ext uri="{FF2B5EF4-FFF2-40B4-BE49-F238E27FC236}">
                <a16:creationId xmlns:a16="http://schemas.microsoft.com/office/drawing/2014/main" id="{0B819EDC-0930-4B0E-B115-EB752969A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6827" y="3583349"/>
            <a:ext cx="3829050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A8E443A-662A-4C75-BEEC-A789D54FF948}"/>
              </a:ext>
            </a:extLst>
          </p:cNvPr>
          <p:cNvSpPr txBox="1"/>
          <p:nvPr/>
        </p:nvSpPr>
        <p:spPr>
          <a:xfrm>
            <a:off x="7508793" y="5840097"/>
            <a:ext cx="38986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Рис. 10 Обработка данных на сервере с использованием моделей ИИ и алгоритмов </a:t>
            </a:r>
            <a:r>
              <a:rPr lang="en-US" dirty="0">
                <a:solidFill>
                  <a:schemeClr val="bg1"/>
                </a:solidFill>
              </a:rPr>
              <a:t>CV</a:t>
            </a:r>
            <a:r>
              <a:rPr lang="ru-RU" dirty="0">
                <a:solidFill>
                  <a:schemeClr val="bg1"/>
                </a:solidFill>
              </a:rPr>
              <a:t> и статистики</a:t>
            </a:r>
          </a:p>
        </p:txBody>
      </p:sp>
      <p:pic>
        <p:nvPicPr>
          <p:cNvPr id="2060" name="Picture 12" descr="Введение в нейросети: что, зачем и как? / Хабр">
            <a:extLst>
              <a:ext uri="{FF2B5EF4-FFF2-40B4-BE49-F238E27FC236}">
                <a16:creationId xmlns:a16="http://schemas.microsoft.com/office/drawing/2014/main" id="{673E82ED-8FA3-4EBC-A29D-AF0D29E52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6827" y="1343009"/>
            <a:ext cx="3898685" cy="2199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8FB014A-4EC8-4ACD-86F5-9D37C3A36C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5877" y="115483"/>
            <a:ext cx="680112" cy="802532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30B12FF-4F81-443A-9A6C-022A473FA70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>
                <a:solidFill>
                  <a:schemeClr val="bg1"/>
                </a:solidFill>
              </a:rPr>
              <a:t>6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081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8E6AACF-0A35-488D-A6C9-22288CCDD4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62212B-D869-4146-946E-B5D383C58151}"/>
              </a:ext>
            </a:extLst>
          </p:cNvPr>
          <p:cNvSpPr txBox="1"/>
          <p:nvPr/>
        </p:nvSpPr>
        <p:spPr>
          <a:xfrm>
            <a:off x="273583" y="6745"/>
            <a:ext cx="101810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i="1" spc="400" dirty="0">
                <a:solidFill>
                  <a:schemeClr val="bg1">
                    <a:lumMod val="95000"/>
                    <a:lumOff val="5000"/>
                  </a:schemeClr>
                </a:solidFill>
                <a:latin typeface="ST-Donbass" pitchFamily="2" charset="0"/>
              </a:rPr>
              <a:t>Выбор типа конструкции ходовой части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69BEDC-79C7-468B-9ECB-789159C6C747}"/>
              </a:ext>
            </a:extLst>
          </p:cNvPr>
          <p:cNvSpPr txBox="1"/>
          <p:nvPr/>
        </p:nvSpPr>
        <p:spPr>
          <a:xfrm>
            <a:off x="273583" y="989135"/>
            <a:ext cx="8961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Были рассмотрены несколько конструкций:</a:t>
            </a:r>
          </a:p>
        </p:txBody>
      </p:sp>
      <p:pic>
        <p:nvPicPr>
          <p:cNvPr id="16" name="Рисунок 15" descr="Why the Husky A300 is the ideal mobile robot for your outdoor projects -  Génération Robots - Blog">
            <a:extLst>
              <a:ext uri="{FF2B5EF4-FFF2-40B4-BE49-F238E27FC236}">
                <a16:creationId xmlns:a16="http://schemas.microsoft.com/office/drawing/2014/main" id="{0A571A60-0390-4C36-B779-1E75782D8A04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142"/>
          <a:stretch/>
        </p:blipFill>
        <p:spPr bwMode="auto">
          <a:xfrm>
            <a:off x="273583" y="1571416"/>
            <a:ext cx="3787103" cy="1972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16" descr="Light Tracked Support Robot w/ a Multi-Axis Robotic Arm | Bulldog">
            <a:extLst>
              <a:ext uri="{FF2B5EF4-FFF2-40B4-BE49-F238E27FC236}">
                <a16:creationId xmlns:a16="http://schemas.microsoft.com/office/drawing/2014/main" id="{E02DCB2F-1014-4AE1-876A-E81938B403F2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7" t="17831" r="17027"/>
          <a:stretch/>
        </p:blipFill>
        <p:spPr bwMode="auto">
          <a:xfrm>
            <a:off x="4754511" y="1571416"/>
            <a:ext cx="2761130" cy="1972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Рисунок 17" descr="Spot Inspires Innovation at BMW Group Plant | Boston Dynamics">
            <a:extLst>
              <a:ext uri="{FF2B5EF4-FFF2-40B4-BE49-F238E27FC236}">
                <a16:creationId xmlns:a16="http://schemas.microsoft.com/office/drawing/2014/main" id="{03A4DE7C-2490-48FA-BABE-CCCEF954244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7670" y="1571416"/>
            <a:ext cx="2795603" cy="1972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C883310-6765-4CB1-A7C6-6B22A30DE9EF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715415" y="3983887"/>
            <a:ext cx="2601951" cy="2521818"/>
          </a:xfrm>
          <a:prstGeom prst="rect">
            <a:avLst/>
          </a:prstGeom>
        </p:spPr>
      </p:pic>
      <p:pic>
        <p:nvPicPr>
          <p:cNvPr id="20" name="Рисунок 19" descr="Scout Mini">
            <a:extLst>
              <a:ext uri="{FF2B5EF4-FFF2-40B4-BE49-F238E27FC236}">
                <a16:creationId xmlns:a16="http://schemas.microsoft.com/office/drawing/2014/main" id="{1E04D2A3-ACA9-400C-B693-CCA6F412C9B4}"/>
              </a:ext>
            </a:extLst>
          </p:cNvPr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61" t="16984" r="13406" b="8949"/>
          <a:stretch/>
        </p:blipFill>
        <p:spPr bwMode="auto">
          <a:xfrm>
            <a:off x="7741721" y="3990281"/>
            <a:ext cx="3453445" cy="2521818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3B8C9CD-16E6-48A3-9BB7-4B3F85F6CCB6}"/>
              </a:ext>
            </a:extLst>
          </p:cNvPr>
          <p:cNvPicPr/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1" t="19223" r="13138" b="23613"/>
          <a:stretch/>
        </p:blipFill>
        <p:spPr bwMode="auto">
          <a:xfrm>
            <a:off x="4691758" y="4027820"/>
            <a:ext cx="2498098" cy="2433952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6ACCCA2-CD9C-40CF-AC5E-BDA64D20DEF5}"/>
              </a:ext>
            </a:extLst>
          </p:cNvPr>
          <p:cNvSpPr txBox="1"/>
          <p:nvPr/>
        </p:nvSpPr>
        <p:spPr>
          <a:xfrm>
            <a:off x="273583" y="3543726"/>
            <a:ext cx="3485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Рис. 11 </a:t>
            </a:r>
            <a:r>
              <a:rPr lang="de-DE" dirty="0" err="1">
                <a:solidFill>
                  <a:schemeClr val="bg1"/>
                </a:solidFill>
              </a:rPr>
              <a:t>Clearpath</a:t>
            </a:r>
            <a:r>
              <a:rPr lang="de-DE" dirty="0">
                <a:solidFill>
                  <a:schemeClr val="bg1"/>
                </a:solidFill>
              </a:rPr>
              <a:t> Husky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AE5C09-B03E-4F88-8E0D-C2D0E657A770}"/>
              </a:ext>
            </a:extLst>
          </p:cNvPr>
          <p:cNvSpPr txBox="1"/>
          <p:nvPr/>
        </p:nvSpPr>
        <p:spPr>
          <a:xfrm>
            <a:off x="7255537" y="6406167"/>
            <a:ext cx="3347052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580" algn="ctr">
              <a:lnSpc>
                <a:spcPct val="150000"/>
              </a:lnSpc>
            </a:pPr>
            <a:r>
              <a:rPr lang="ru-RU" dirty="0">
                <a:solidFill>
                  <a:schemeClr val="bg1"/>
                </a:solidFill>
              </a:rPr>
              <a:t>Рис. 16 </a:t>
            </a:r>
            <a:r>
              <a:rPr lang="de-DE" dirty="0">
                <a:solidFill>
                  <a:schemeClr val="bg1"/>
                </a:solidFill>
              </a:rPr>
              <a:t>Scout Mini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070CEF-5B88-4AEF-B4E7-8356F2CABA92}"/>
              </a:ext>
            </a:extLst>
          </p:cNvPr>
          <p:cNvSpPr txBox="1"/>
          <p:nvPr/>
        </p:nvSpPr>
        <p:spPr>
          <a:xfrm>
            <a:off x="3856779" y="3475593"/>
            <a:ext cx="4016090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580" algn="ctr">
              <a:lnSpc>
                <a:spcPct val="150000"/>
              </a:lnSpc>
            </a:pPr>
            <a:r>
              <a:rPr lang="ru-RU" dirty="0">
                <a:solidFill>
                  <a:schemeClr val="bg1"/>
                </a:solidFill>
              </a:rPr>
              <a:t>Рис. 13 </a:t>
            </a:r>
            <a:r>
              <a:rPr lang="de-DE" dirty="0" err="1">
                <a:solidFill>
                  <a:schemeClr val="bg1"/>
                </a:solidFill>
              </a:rPr>
              <a:t>SuperDroid</a:t>
            </a:r>
            <a:r>
              <a:rPr lang="de-DE" dirty="0">
                <a:solidFill>
                  <a:schemeClr val="bg1"/>
                </a:solidFill>
              </a:rPr>
              <a:t> LT2-F “Bulldog”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DCD7D1-15F5-4F9D-90A3-2293EF2096D9}"/>
              </a:ext>
            </a:extLst>
          </p:cNvPr>
          <p:cNvSpPr txBox="1"/>
          <p:nvPr/>
        </p:nvSpPr>
        <p:spPr>
          <a:xfrm>
            <a:off x="4011033" y="6393129"/>
            <a:ext cx="3347052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580" algn="ctr">
              <a:lnSpc>
                <a:spcPct val="150000"/>
              </a:lnSpc>
            </a:pPr>
            <a:r>
              <a:rPr lang="ru-RU" dirty="0">
                <a:solidFill>
                  <a:schemeClr val="bg1"/>
                </a:solidFill>
              </a:rPr>
              <a:t>Рис. 14 </a:t>
            </a:r>
            <a:r>
              <a:rPr lang="de-DE" dirty="0" err="1">
                <a:solidFill>
                  <a:schemeClr val="bg1"/>
                </a:solidFill>
              </a:rPr>
              <a:t>Robotnik</a:t>
            </a:r>
            <a:r>
              <a:rPr lang="de-DE" dirty="0">
                <a:solidFill>
                  <a:schemeClr val="bg1"/>
                </a:solidFill>
              </a:rPr>
              <a:t> SUMMIT-XL 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035C0C-1291-4951-88F4-CB5B05C40BED}"/>
              </a:ext>
            </a:extLst>
          </p:cNvPr>
          <p:cNvSpPr txBox="1"/>
          <p:nvPr/>
        </p:nvSpPr>
        <p:spPr>
          <a:xfrm>
            <a:off x="7367475" y="3462555"/>
            <a:ext cx="3347052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580" algn="ctr">
              <a:lnSpc>
                <a:spcPct val="150000"/>
              </a:lnSpc>
            </a:pPr>
            <a:r>
              <a:rPr lang="ru-RU" dirty="0">
                <a:solidFill>
                  <a:schemeClr val="bg1"/>
                </a:solidFill>
              </a:rPr>
              <a:t>Рис. 15 </a:t>
            </a:r>
            <a:r>
              <a:rPr lang="en-US" dirty="0">
                <a:solidFill>
                  <a:schemeClr val="bg1"/>
                </a:solidFill>
              </a:rPr>
              <a:t>Spot Mini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DB56F7-7540-41D6-A876-02D172EF820A}"/>
              </a:ext>
            </a:extLst>
          </p:cNvPr>
          <p:cNvSpPr txBox="1"/>
          <p:nvPr/>
        </p:nvSpPr>
        <p:spPr>
          <a:xfrm>
            <a:off x="138543" y="6399874"/>
            <a:ext cx="3347052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580" algn="ctr">
              <a:lnSpc>
                <a:spcPct val="150000"/>
              </a:lnSpc>
            </a:pPr>
            <a:r>
              <a:rPr lang="ru-RU" dirty="0">
                <a:solidFill>
                  <a:schemeClr val="bg1"/>
                </a:solidFill>
              </a:rPr>
              <a:t>Рис. 12 Робот ROLV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D6FDC50F-621A-4845-AD71-47ABE9D9E4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5877" y="115483"/>
            <a:ext cx="680112" cy="802532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CD0A63-4AD9-44C5-8FCD-7DC24390E9A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6004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8E6AACF-0A35-488D-A6C9-22288CCDD4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62212B-D869-4146-946E-B5D383C58151}"/>
              </a:ext>
            </a:extLst>
          </p:cNvPr>
          <p:cNvSpPr txBox="1"/>
          <p:nvPr/>
        </p:nvSpPr>
        <p:spPr>
          <a:xfrm>
            <a:off x="273583" y="6745"/>
            <a:ext cx="101810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i="1" spc="400" dirty="0">
                <a:solidFill>
                  <a:schemeClr val="bg1">
                    <a:lumMod val="95000"/>
                    <a:lumOff val="5000"/>
                  </a:schemeClr>
                </a:solidFill>
                <a:latin typeface="ST-Donbass" pitchFamily="2" charset="0"/>
              </a:rPr>
              <a:t>Сравнение с аналогами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351FCDC-9567-459A-97B1-2AE4D616E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301716" y="-1136387"/>
            <a:ext cx="5503629" cy="959470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A21E45-9E3A-4652-806D-F6AB8A9F4404}"/>
              </a:ext>
            </a:extLst>
          </p:cNvPr>
          <p:cNvSpPr txBox="1"/>
          <p:nvPr/>
        </p:nvSpPr>
        <p:spPr>
          <a:xfrm>
            <a:off x="3350233" y="6421577"/>
            <a:ext cx="567184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Таблица 1. Сравнение характеристик аналогов</a:t>
            </a:r>
            <a:endParaRPr lang="en-US" sz="2400" dirty="0">
              <a:solidFill>
                <a:schemeClr val="bg1"/>
              </a:solidFill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ST-Donbass" pitchFamily="2" charset="0"/>
            </a:endParaRPr>
          </a:p>
          <a:p>
            <a:pPr algn="ctr"/>
            <a:endParaRPr lang="ru-RU" sz="2400" dirty="0">
              <a:solidFill>
                <a:schemeClr val="bg1"/>
              </a:solidFill>
              <a:latin typeface="ST-Donbass" pitchFamily="2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DA58AD9-BB50-4797-9492-3489697EB46E}"/>
              </a:ext>
            </a:extLst>
          </p:cNvPr>
          <p:cNvSpPr/>
          <p:nvPr/>
        </p:nvSpPr>
        <p:spPr>
          <a:xfrm>
            <a:off x="7240418" y="909150"/>
            <a:ext cx="1249680" cy="5492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F124EE4-1B91-4E53-B2E1-1F3507FB8E7B}"/>
              </a:ext>
            </a:extLst>
          </p:cNvPr>
          <p:cNvSpPr/>
          <p:nvPr/>
        </p:nvSpPr>
        <p:spPr>
          <a:xfrm>
            <a:off x="6106160" y="900353"/>
            <a:ext cx="1127760" cy="55036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FD5D1AB-2DC7-413B-850E-FEF7C76BA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5877" y="115483"/>
            <a:ext cx="680112" cy="802532"/>
          </a:xfrm>
          <a:prstGeom prst="rect">
            <a:avLst/>
          </a:prstGeom>
        </p:spPr>
      </p:pic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F743706-F3C3-457E-8769-3B0E8D92FA7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5203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8E6AACF-0A35-488D-A6C9-22288CCDD4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62212B-D869-4146-946E-B5D383C58151}"/>
              </a:ext>
            </a:extLst>
          </p:cNvPr>
          <p:cNvSpPr txBox="1"/>
          <p:nvPr/>
        </p:nvSpPr>
        <p:spPr>
          <a:xfrm>
            <a:off x="273583" y="6745"/>
            <a:ext cx="92512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i="1" spc="400" dirty="0">
                <a:solidFill>
                  <a:schemeClr val="bg1">
                    <a:lumMod val="95000"/>
                    <a:lumOff val="5000"/>
                  </a:schemeClr>
                </a:solidFill>
                <a:latin typeface="ST-Donbass" pitchFamily="2" charset="0"/>
              </a:rPr>
              <a:t>Постановка технических требований к мобильной платформе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0635E3-CBC1-4197-BFBB-F744FCD9AA46}"/>
              </a:ext>
            </a:extLst>
          </p:cNvPr>
          <p:cNvSpPr txBox="1"/>
          <p:nvPr/>
        </p:nvSpPr>
        <p:spPr>
          <a:xfrm>
            <a:off x="425983" y="1797784"/>
            <a:ext cx="419980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Для наглядности и систематизации составим таблицу 2 технических требований на которые нужно ориентироваться в процессе разработки.</a:t>
            </a: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С точки зрения конструкции ходовой части планируется использование четырехколесной базы с регулированием давления в колесах, и независимыми элементами подвески каждого колеса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00E0058-5007-4219-8752-1CE135775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5877" y="115483"/>
            <a:ext cx="680112" cy="8025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A34CCB8-7496-4543-A3AA-1B968A17A712}"/>
              </a:ext>
            </a:extLst>
          </p:cNvPr>
          <p:cNvSpPr txBox="1"/>
          <p:nvPr/>
        </p:nvSpPr>
        <p:spPr>
          <a:xfrm>
            <a:off x="5097753" y="6347379"/>
            <a:ext cx="492713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Таблица 2. Тех. Требования к платформе</a:t>
            </a:r>
            <a:endParaRPr lang="en-US" sz="2400" dirty="0">
              <a:solidFill>
                <a:schemeClr val="bg1"/>
              </a:solidFill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ST-Donbass" pitchFamily="2" charset="0"/>
            </a:endParaRPr>
          </a:p>
          <a:p>
            <a:pPr algn="ctr"/>
            <a:endParaRPr lang="ru-RU" sz="2400" dirty="0">
              <a:solidFill>
                <a:schemeClr val="bg1"/>
              </a:solidFill>
              <a:latin typeface="ST-Donbass" pitchFamily="2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22D086C8-B3B5-45AC-80D4-3BC5E1B26C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0521"/>
              </p:ext>
            </p:extLst>
          </p:nvPr>
        </p:nvGraphicFramePr>
        <p:xfrm>
          <a:off x="4899836" y="1568778"/>
          <a:ext cx="7121549" cy="4774610"/>
        </p:xfrm>
        <a:graphic>
          <a:graphicData uri="http://schemas.openxmlformats.org/drawingml/2006/table">
            <a:tbl>
              <a:tblPr firstRow="1" firstCol="1" bandRow="1">
                <a:tableStyleId>{0505E3EF-67EA-436B-97B2-0124C06EBD24}</a:tableStyleId>
              </a:tblPr>
              <a:tblGrid>
                <a:gridCol w="3247154">
                  <a:extLst>
                    <a:ext uri="{9D8B030D-6E8A-4147-A177-3AD203B41FA5}">
                      <a16:colId xmlns:a16="http://schemas.microsoft.com/office/drawing/2014/main" val="2693535827"/>
                    </a:ext>
                  </a:extLst>
                </a:gridCol>
                <a:gridCol w="1500052">
                  <a:extLst>
                    <a:ext uri="{9D8B030D-6E8A-4147-A177-3AD203B41FA5}">
                      <a16:colId xmlns:a16="http://schemas.microsoft.com/office/drawing/2014/main" val="2447715412"/>
                    </a:ext>
                  </a:extLst>
                </a:gridCol>
                <a:gridCol w="2374343">
                  <a:extLst>
                    <a:ext uri="{9D8B030D-6E8A-4147-A177-3AD203B41FA5}">
                      <a16:colId xmlns:a16="http://schemas.microsoft.com/office/drawing/2014/main" val="633285418"/>
                    </a:ext>
                  </a:extLst>
                </a:gridCol>
              </a:tblGrid>
              <a:tr h="402262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Параметр 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Значение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Ед. измерения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4403851"/>
                  </a:ext>
                </a:extLst>
              </a:tr>
              <a:tr h="467424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/>
                          </a:solidFill>
                          <a:effectLst/>
                        </a:rPr>
                        <a:t>Общая масса до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/>
                          </a:solidFill>
                          <a:effectLst/>
                        </a:rPr>
                        <a:t>100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кг.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57666607"/>
                  </a:ext>
                </a:extLst>
              </a:tr>
              <a:tr h="576347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/>
                          </a:solidFill>
                          <a:effectLst/>
                        </a:rPr>
                        <a:t>Габариты под установку дрон станции не менее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500х500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/>
                          </a:solidFill>
                          <a:effectLst/>
                        </a:rPr>
                        <a:t>мм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03626625"/>
                  </a:ext>
                </a:extLst>
              </a:tr>
              <a:tr h="474286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/>
                          </a:solidFill>
                          <a:effectLst/>
                        </a:rPr>
                        <a:t>Скорость от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/>
                          </a:solidFill>
                          <a:effectLst/>
                        </a:rPr>
                        <a:t>20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Км/ч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74724713"/>
                  </a:ext>
                </a:extLst>
              </a:tr>
              <a:tr h="474286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/>
                          </a:solidFill>
                          <a:effectLst/>
                        </a:rPr>
                        <a:t>Запас хода не менее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/>
                          </a:solidFill>
                          <a:effectLst/>
                        </a:rPr>
                        <a:t>100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/>
                          </a:solidFill>
                          <a:effectLst/>
                        </a:rPr>
                        <a:t>Км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29470072"/>
                  </a:ext>
                </a:extLst>
              </a:tr>
              <a:tr h="474286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/>
                          </a:solidFill>
                          <a:effectLst/>
                        </a:rPr>
                        <a:t>Грузоподъемность от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/>
                          </a:solidFill>
                          <a:effectLst/>
                        </a:rPr>
                        <a:t>60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/>
                          </a:solidFill>
                          <a:effectLst/>
                        </a:rPr>
                        <a:t>кг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44311940"/>
                  </a:ext>
                </a:extLst>
              </a:tr>
              <a:tr h="474286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/>
                          </a:solidFill>
                          <a:effectLst/>
                        </a:rPr>
                        <a:t>Дорожный просвет от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200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/>
                          </a:solidFill>
                          <a:effectLst/>
                        </a:rPr>
                        <a:t>мм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91941352"/>
                  </a:ext>
                </a:extLst>
              </a:tr>
              <a:tr h="474286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/>
                          </a:solidFill>
                          <a:effectLst/>
                        </a:rPr>
                        <a:t>Пылевлагозащита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IP68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/>
                          </a:solidFill>
                          <a:effectLst/>
                        </a:rPr>
                        <a:t>Стандарт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11930756"/>
                  </a:ext>
                </a:extLst>
              </a:tr>
              <a:tr h="957147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/>
                          </a:solidFill>
                          <a:effectLst/>
                        </a:rPr>
                        <a:t>Наличие оборудования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400" dirty="0" err="1">
                          <a:solidFill>
                            <a:schemeClr val="bg1"/>
                          </a:solidFill>
                          <a:effectLst/>
                        </a:rPr>
                        <a:t>Лидар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 – 2 </a:t>
                      </a:r>
                      <a:r>
                        <a:rPr lang="ru-RU" sz="1400" dirty="0" err="1">
                          <a:solidFill>
                            <a:schemeClr val="bg1"/>
                          </a:solidFill>
                          <a:effectLst/>
                        </a:rPr>
                        <a:t>шт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, Камеры с круговым обзором, микрокомпьютер и способность передвигаться автономно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010655"/>
                  </a:ext>
                </a:extLst>
              </a:tr>
            </a:tbl>
          </a:graphicData>
        </a:graphic>
      </p:graphicFrame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42E5B09-B89A-46CD-9C44-F2C7C512622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>
                <a:solidFill>
                  <a:schemeClr val="bg1"/>
                </a:solidFill>
              </a:rPr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219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8E6AACF-0A35-488D-A6C9-22288CCDD4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62212B-D869-4146-946E-B5D383C58151}"/>
              </a:ext>
            </a:extLst>
          </p:cNvPr>
          <p:cNvSpPr txBox="1"/>
          <p:nvPr/>
        </p:nvSpPr>
        <p:spPr>
          <a:xfrm>
            <a:off x="273583" y="6745"/>
            <a:ext cx="92512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i="1" spc="400" dirty="0">
                <a:solidFill>
                  <a:schemeClr val="bg1">
                    <a:lumMod val="95000"/>
                    <a:lumOff val="5000"/>
                  </a:schemeClr>
                </a:solidFill>
                <a:latin typeface="ST-Donbass" pitchFamily="2" charset="0"/>
              </a:rPr>
              <a:t>Проработка решения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69BEDC-79C7-468B-9ECB-789159C6C747}"/>
              </a:ext>
            </a:extLst>
          </p:cNvPr>
          <p:cNvSpPr txBox="1"/>
          <p:nvPr/>
        </p:nvSpPr>
        <p:spPr>
          <a:xfrm>
            <a:off x="273583" y="989135"/>
            <a:ext cx="8961857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Из особенностей разрабатываемой платформы можно выделить следующее:</a:t>
            </a:r>
          </a:p>
          <a:p>
            <a:endParaRPr lang="ru-RU" sz="20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000" dirty="0">
                <a:solidFill>
                  <a:schemeClr val="bg1"/>
                </a:solidFill>
              </a:rPr>
              <a:t>Повышенное внимание к энергоэффективности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dirty="0">
                <a:solidFill>
                  <a:schemeClr val="bg1"/>
                </a:solidFill>
              </a:rPr>
              <a:t>Возможная установка мини-генератора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dirty="0">
                <a:solidFill>
                  <a:schemeClr val="bg1"/>
                </a:solidFill>
              </a:rPr>
              <a:t>Дублирующие системы позиционирования в порядке приоритезации: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1) </a:t>
            </a:r>
            <a:r>
              <a:rPr lang="ru-RU" sz="2000" dirty="0" err="1">
                <a:solidFill>
                  <a:schemeClr val="bg1"/>
                </a:solidFill>
              </a:rPr>
              <a:t>Лидар</a:t>
            </a:r>
            <a:endParaRPr lang="ru-RU" sz="20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2) IMU-модуль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3) Абсолютные </a:t>
            </a:r>
            <a:r>
              <a:rPr lang="ru-RU" sz="2000" dirty="0" err="1">
                <a:solidFill>
                  <a:schemeClr val="bg1"/>
                </a:solidFill>
              </a:rPr>
              <a:t>энкодеры</a:t>
            </a:r>
            <a:r>
              <a:rPr lang="ru-RU" sz="2000" dirty="0">
                <a:solidFill>
                  <a:schemeClr val="bg1"/>
                </a:solidFill>
              </a:rPr>
              <a:t> приводов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4) ГНС-модули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A4FEAF4-0005-4A2B-B6DF-5E5E57CB6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5877" y="115483"/>
            <a:ext cx="680112" cy="802532"/>
          </a:xfrm>
          <a:prstGeom prst="rect">
            <a:avLst/>
          </a:prstGeom>
        </p:spPr>
      </p:pic>
      <p:pic>
        <p:nvPicPr>
          <p:cNvPr id="16" name="Рисунок 15" descr="DJI Dock 2">
            <a:extLst>
              <a:ext uri="{FF2B5EF4-FFF2-40B4-BE49-F238E27FC236}">
                <a16:creationId xmlns:a16="http://schemas.microsoft.com/office/drawing/2014/main" id="{346E28CA-DC26-4FCD-9FB6-A7452798A56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8601" y="2434693"/>
            <a:ext cx="6280735" cy="376844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1880DF3-3EE9-4D2D-94F0-2FE44B7A0A51}"/>
              </a:ext>
            </a:extLst>
          </p:cNvPr>
          <p:cNvSpPr txBox="1"/>
          <p:nvPr/>
        </p:nvSpPr>
        <p:spPr>
          <a:xfrm>
            <a:off x="7732615" y="6344963"/>
            <a:ext cx="426720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000" dirty="0">
                <a:solidFill>
                  <a:schemeClr val="bg1"/>
                </a:solidFill>
              </a:rPr>
              <a:t>Рис. 1</a:t>
            </a:r>
            <a:r>
              <a:rPr lang="en-US" sz="2000" dirty="0">
                <a:solidFill>
                  <a:schemeClr val="bg1"/>
                </a:solidFill>
              </a:rPr>
              <a:t>7</a:t>
            </a:r>
            <a:r>
              <a:rPr lang="ru-RU" sz="2000" dirty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DJI Dock</a:t>
            </a:r>
            <a:r>
              <a:rPr lang="ru-RU" sz="2000" dirty="0">
                <a:solidFill>
                  <a:schemeClr val="bg1"/>
                </a:solidFill>
              </a:rPr>
              <a:t> 2 и </a:t>
            </a:r>
            <a:r>
              <a:rPr lang="en-US" sz="2000" dirty="0">
                <a:solidFill>
                  <a:schemeClr val="bg1"/>
                </a:solidFill>
              </a:rPr>
              <a:t>DJI Mavic</a:t>
            </a:r>
            <a:endParaRPr lang="ru-RU" sz="2000"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1452EF-F41E-4EC8-8B6A-CFB2D7753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8272" y="3639010"/>
            <a:ext cx="3552158" cy="281491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BCC57A9-B673-4EEC-AF09-0E28795D291E}"/>
              </a:ext>
            </a:extLst>
          </p:cNvPr>
          <p:cNvSpPr txBox="1"/>
          <p:nvPr/>
        </p:nvSpPr>
        <p:spPr>
          <a:xfrm>
            <a:off x="3630751" y="6314002"/>
            <a:ext cx="426720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000" dirty="0">
                <a:solidFill>
                  <a:schemeClr val="bg1"/>
                </a:solidFill>
              </a:rPr>
              <a:t>Рис. 18 Бензиновый генератор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6F5B7C-11A3-49D1-8A1E-97AC4DC0795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>
                <a:solidFill>
                  <a:schemeClr val="bg1"/>
                </a:solidFill>
              </a:rPr>
              <a:t>10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6684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8E6AACF-0A35-488D-A6C9-22288CCDD4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62212B-D869-4146-946E-B5D383C58151}"/>
              </a:ext>
            </a:extLst>
          </p:cNvPr>
          <p:cNvSpPr txBox="1"/>
          <p:nvPr/>
        </p:nvSpPr>
        <p:spPr>
          <a:xfrm>
            <a:off x="273583" y="6745"/>
            <a:ext cx="92512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i="1" spc="400" dirty="0">
                <a:solidFill>
                  <a:schemeClr val="bg1">
                    <a:lumMod val="95000"/>
                    <a:lumOff val="5000"/>
                  </a:schemeClr>
                </a:solidFill>
                <a:latin typeface="ST-Donbass" pitchFamily="2" charset="0"/>
              </a:rPr>
              <a:t>План работ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69BEDC-79C7-468B-9ECB-789159C6C747}"/>
              </a:ext>
            </a:extLst>
          </p:cNvPr>
          <p:cNvSpPr txBox="1"/>
          <p:nvPr/>
        </p:nvSpPr>
        <p:spPr>
          <a:xfrm>
            <a:off x="273583" y="989135"/>
            <a:ext cx="1100229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В рамках работы над ВКРМ планируется следующее:</a:t>
            </a:r>
          </a:p>
          <a:p>
            <a:endParaRPr lang="ru-RU" sz="28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</a:rPr>
              <a:t>01 НИРС – Постановка задачи, исследование аналогов проработка концепции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</a:rPr>
              <a:t>02 КП – Разработка конструкторской части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</a:rPr>
              <a:t>02 НИРС – Разработка алгоритмов навигации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</a:rPr>
              <a:t>03 КП – Проработка  системы управления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</a:rPr>
              <a:t>03 НИРС – Сборка прототипа и физические испытания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</a:rPr>
              <a:t>04 НИРС – Доработка функционала </a:t>
            </a:r>
            <a:r>
              <a:rPr lang="ru-RU" sz="2400" dirty="0" err="1">
                <a:solidFill>
                  <a:schemeClr val="bg1"/>
                </a:solidFill>
              </a:rPr>
              <a:t>сисетмы</a:t>
            </a:r>
            <a:r>
              <a:rPr lang="ru-RU" sz="2400" dirty="0">
                <a:solidFill>
                  <a:schemeClr val="bg1"/>
                </a:solidFill>
              </a:rPr>
              <a:t> и повышение эффективности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A4FEAF4-0005-4A2B-B6DF-5E5E57CB6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5877" y="115483"/>
            <a:ext cx="680112" cy="802532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6F5B7C-11A3-49D1-8A1E-97AC4DC0795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>
                <a:solidFill>
                  <a:schemeClr val="bg1"/>
                </a:solidFill>
              </a:rPr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772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B953F16-547A-4EE9-9FF1-8BC6A697AC3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889804-6493-468F-B358-8E5379659A3C}"/>
              </a:ext>
            </a:extLst>
          </p:cNvPr>
          <p:cNvSpPr txBox="1"/>
          <p:nvPr/>
        </p:nvSpPr>
        <p:spPr>
          <a:xfrm>
            <a:off x="404746" y="1436147"/>
            <a:ext cx="113825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spc="400" dirty="0">
                <a:solidFill>
                  <a:schemeClr val="bg1">
                    <a:lumMod val="95000"/>
                    <a:lumOff val="5000"/>
                  </a:schemeClr>
                </a:solidFill>
                <a:latin typeface="ST-Donbass" pitchFamily="2" charset="0"/>
              </a:rPr>
              <a:t>Колёсный автономный робот повышенной проходимости для патрулирования и осмотра лесной местности </a:t>
            </a:r>
          </a:p>
        </p:txBody>
      </p:sp>
      <p:sp>
        <p:nvSpPr>
          <p:cNvPr id="7" name="object 16">
            <a:extLst>
              <a:ext uri="{FF2B5EF4-FFF2-40B4-BE49-F238E27FC236}">
                <a16:creationId xmlns:a16="http://schemas.microsoft.com/office/drawing/2014/main" id="{DDDC0035-0D69-4DFF-AB81-5751E82A9FA2}"/>
              </a:ext>
            </a:extLst>
          </p:cNvPr>
          <p:cNvSpPr txBox="1"/>
          <p:nvPr/>
        </p:nvSpPr>
        <p:spPr>
          <a:xfrm>
            <a:off x="504145" y="4114016"/>
            <a:ext cx="5591855" cy="3515321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R="5080">
              <a:lnSpc>
                <a:spcPct val="110000"/>
              </a:lnSpc>
              <a:spcBef>
                <a:spcPts val="880"/>
              </a:spcBef>
            </a:pPr>
            <a:r>
              <a:rPr sz="2000" b="1" i="1" spc="-85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Санников</a:t>
            </a:r>
            <a:r>
              <a:rPr sz="2000" b="1" i="1" spc="-95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i="1" spc="-1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Артём</a:t>
            </a:r>
            <a:r>
              <a:rPr lang="ru-RU" sz="2000" b="1" i="1" spc="-1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Константинович</a:t>
            </a:r>
            <a:br>
              <a:rPr lang="ru-RU" sz="2000" b="1" i="1" spc="-1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b="1" i="1" spc="-1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СМ7-11М</a:t>
            </a:r>
            <a:endParaRPr sz="2000" dirty="0">
              <a:solidFill>
                <a:schemeClr val="bg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>
              <a:lnSpc>
                <a:spcPct val="110000"/>
              </a:lnSpc>
              <a:spcBef>
                <a:spcPts val="950"/>
              </a:spcBef>
            </a:pPr>
            <a:r>
              <a:rPr lang="ru-RU" spc="12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+79069298177</a:t>
            </a:r>
            <a:br>
              <a:rPr lang="ru-RU" spc="12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pc="12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artemksannikov@gmail.com</a:t>
            </a:r>
            <a:br>
              <a:rPr lang="en-US" spc="12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pc="12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pc="12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Науч. Руководитель: Гуляев Игорь Анатольевич</a:t>
            </a:r>
            <a:br>
              <a:rPr lang="ru-RU" spc="12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ru-RU" spc="12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ru-RU" sz="1400" spc="8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1400" dirty="0">
              <a:solidFill>
                <a:schemeClr val="bg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algn="ctr">
              <a:lnSpc>
                <a:spcPts val="1340"/>
              </a:lnSpc>
              <a:spcBef>
                <a:spcPts val="950"/>
              </a:spcBef>
            </a:pPr>
            <a:endParaRPr sz="1400" dirty="0">
              <a:solidFill>
                <a:schemeClr val="bg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16">
            <a:extLst>
              <a:ext uri="{FF2B5EF4-FFF2-40B4-BE49-F238E27FC236}">
                <a16:creationId xmlns:a16="http://schemas.microsoft.com/office/drawing/2014/main" id="{E2451D4C-5EEB-4073-9F26-6A8FA1DAC6D0}"/>
              </a:ext>
            </a:extLst>
          </p:cNvPr>
          <p:cNvSpPr txBox="1"/>
          <p:nvPr/>
        </p:nvSpPr>
        <p:spPr>
          <a:xfrm>
            <a:off x="7617824" y="4515808"/>
            <a:ext cx="4338165" cy="1885131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R="5080" algn="r">
              <a:lnSpc>
                <a:spcPct val="150000"/>
              </a:lnSpc>
            </a:pPr>
            <a:br>
              <a:rPr lang="ru-RU" spc="12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ru-RU" spc="12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ru-RU" sz="1400" spc="8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1400" dirty="0">
              <a:solidFill>
                <a:schemeClr val="bg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algn="ctr">
              <a:lnSpc>
                <a:spcPts val="1340"/>
              </a:lnSpc>
              <a:spcBef>
                <a:spcPts val="950"/>
              </a:spcBef>
            </a:pPr>
            <a:endParaRPr sz="1400" dirty="0">
              <a:solidFill>
                <a:schemeClr val="bg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4A7D607-E058-43DF-B3BA-CAA832954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5877" y="115483"/>
            <a:ext cx="680112" cy="802532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12F5657-1102-4A9D-9CAB-29076FD1B65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>
                <a:solidFill>
                  <a:schemeClr val="bg1"/>
                </a:solidFill>
              </a:rPr>
              <a:t>12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837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1896</TotalTime>
  <Words>692</Words>
  <Application>Microsoft Office PowerPoint</Application>
  <PresentationFormat>Широкоэкранный</PresentationFormat>
  <Paragraphs>130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ST-Donbass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Я</dc:creator>
  <cp:lastModifiedBy>Санников Артём</cp:lastModifiedBy>
  <cp:revision>117</cp:revision>
  <cp:lastPrinted>2025-12-18T08:17:32Z</cp:lastPrinted>
  <dcterms:created xsi:type="dcterms:W3CDTF">2024-10-13T09:33:02Z</dcterms:created>
  <dcterms:modified xsi:type="dcterms:W3CDTF">2026-04-19T21:45:37Z</dcterms:modified>
</cp:coreProperties>
</file>