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86" r:id="rId3"/>
    <p:sldId id="278" r:id="rId4"/>
    <p:sldId id="264" r:id="rId5"/>
    <p:sldId id="263" r:id="rId6"/>
    <p:sldId id="270" r:id="rId7"/>
    <p:sldId id="271" r:id="rId8"/>
    <p:sldId id="284" r:id="rId9"/>
    <p:sldId id="274" r:id="rId10"/>
    <p:sldId id="279" r:id="rId11"/>
    <p:sldId id="280" r:id="rId12"/>
    <p:sldId id="285" r:id="rId13"/>
    <p:sldId id="275" r:id="rId14"/>
    <p:sldId id="283" r:id="rId15"/>
    <p:sldId id="287" r:id="rId16"/>
    <p:sldId id="259" r:id="rId17"/>
  </p:sldIdLst>
  <p:sldSz cx="12192000" cy="6858000"/>
  <p:notesSz cx="6889750" cy="1002188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0A637"/>
    <a:srgbClr val="75C3B3"/>
    <a:srgbClr val="00684D"/>
    <a:srgbClr val="88B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1" autoAdjust="0"/>
    <p:restoredTop sz="94660"/>
  </p:normalViewPr>
  <p:slideViewPr>
    <p:cSldViewPr snapToGrid="0">
      <p:cViewPr varScale="1">
        <p:scale>
          <a:sx n="81" d="100"/>
          <a:sy n="81" d="100"/>
        </p:scale>
        <p:origin x="7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8375D685-3B05-4449-9B51-B28F2757521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A2A7A3C0-112D-418A-AFF1-95DBF15F32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321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7A3C0-112D-418A-AFF1-95DBF15F32C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193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7A3C0-112D-418A-AFF1-95DBF15F32C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3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7A3C0-112D-418A-AFF1-95DBF15F32C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406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7A3C0-112D-418A-AFF1-95DBF15F32C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105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7A3C0-112D-418A-AFF1-95DBF15F32C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911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7A3C0-112D-418A-AFF1-95DBF15F32C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452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7A3C0-112D-418A-AFF1-95DBF15F32C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657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7A3C0-112D-418A-AFF1-95DBF15F32C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98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AADB6-2F14-433C-9FDF-575C0C5B6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D979E1-0F21-41E3-84D5-8294B492E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D38C31-29D2-4D12-8E39-97A9A4F9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CE9A-0420-4A79-9ED8-D363B27270AB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89B3AF-5C3E-403A-A3EB-09AC7DF9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6B79D-42F4-47E0-9A23-C31D00D3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97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3946C-85FF-40F8-8AF9-573971EC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F7C7C3-6710-406A-A619-0E45D7FB0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D1A485-DC86-4541-A4F6-119DEFCC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939-8CD0-4D36-8EA5-EED1893F8E57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4B21A7-9C9F-46B0-82F2-CBF60E9D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E78556-5859-40EE-B005-1DC44AF1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508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BB751-473E-4F4D-B21F-433FDBFD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7154D1-A751-4948-9928-75A4BB8C9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938CF1-EDBB-42DF-95C1-59E169C1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2297-6465-4D7D-9C8E-B12C2F4756A3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C2BAFB-E635-4363-BA9D-4A205025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14F0F2-2F48-4572-A595-865EC81D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54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904CD-5C2E-415F-90AE-1BDE70C6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FECFA4-000A-40BE-8420-CF6BE0A26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30DEC2-D0E2-4920-A4F7-43042B192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5A90C7-7395-4A5B-B001-FCC2DA58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5487B-F3FE-4078-B841-E864365B1B6B}" type="datetime1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9DDBB2-25A2-4E45-8790-47FFE56A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97A68B-0C31-4243-8C81-FF714961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64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C8380-EE89-4E19-88CA-36FDECD6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7A81C5-7495-4A50-AD92-FF539EF0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FD36AA-942E-4E1B-BB03-B51D775FA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EFDF07-53E5-457E-AE34-278457FD5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A25C0E-A739-428E-AED4-79EAA1142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7A7882E-EB30-458F-9B34-F2F51CE6B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9740C-D616-44CD-B25E-1301310C16DD}" type="datetime1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5A2E9A8-6672-4C32-98A7-A630E853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29BFB3-DFE2-41D8-B3AF-533FD859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32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2F50B-5246-4BC2-9638-18C912BB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3431235-34C1-4AC6-B71F-B1B55C49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E8AE-F076-42D9-A1A1-6195A00570C1}" type="datetime1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E3359B-CCA7-4C9C-A31F-D99C2BCD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ABF55A-DB1B-460B-BACA-3ED7A7A7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30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8B4908E-5710-4840-8385-BCB87837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8883C-B12E-40A1-B96F-7596507E9773}" type="datetime1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33C9698-7599-4F27-8113-64651E5B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758A2-8701-4763-8E42-4A1D53B6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02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B5E21-88BC-479C-8772-3F8E13D9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699122-6A74-4D91-8DB4-795FA21CD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79530D-E74E-4BDD-B7F5-3503CDA77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E69D16-993C-47D6-826E-21446B03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5C0B-F08A-4872-A7E5-ACBF03D72E7C}" type="datetime1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D49EC4-47AB-467C-9EFD-C9CD296E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B52A32-2FCD-4F09-87AF-8DBE105C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98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44193-A1B3-4727-BFB0-1EB6A1F07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42A3AB-F5E3-4CCD-92D3-919082F7B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BD9890-2148-45BF-AC21-550F1A46E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7C4E0C-13CC-4EF5-AF5C-46D5D3DE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11BD-E348-4EAF-AA5C-3074904E7C2C}" type="datetime1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43B2B2-BF31-4578-82F3-A0CB74DB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04E31C-8B5C-48FF-A65B-0D4EF70F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11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5F079-0B5C-428F-A3FC-0CCACC35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1D891C-4D47-4AF1-B4B4-7FCE0444D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B2EA-5916-49BF-844B-D1AB1B6F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0DC6-A1D1-4A4E-A4CD-67ACE135350E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890BB7-CA58-41BE-AD89-755CB513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338B8B-107F-4A96-BBF7-0FF7BBED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906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B9FAC7-D647-473C-BB3C-5A44C3435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54C93D-958A-4782-A75A-AA98E5966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67FE20-2D38-44A7-A6DE-0E88B053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DF88-C114-42CB-BE7C-FDE2D163A43E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1A99D0-7504-4ACE-9454-75A82298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E5DCCE-6960-42F0-882A-A65EBDEE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53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DA4750-2F1D-4E3B-AA83-6374BCDB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5A11E-4039-488E-8388-A6926DD80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B99C01-7FBE-4943-9FAA-C47F40117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11A72-A7EE-48EA-9FC6-47CB293B5B04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5C8CFA-A4A8-48A2-B0C0-FAC689E23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DD7AA1-7761-4F0D-BF5F-34B86AEBD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56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D05A51-DEB7-4C75-9505-6861ACC607A3}"/>
              </a:ext>
            </a:extLst>
          </p:cNvPr>
          <p:cNvSpPr txBox="1"/>
          <p:nvPr/>
        </p:nvSpPr>
        <p:spPr>
          <a:xfrm>
            <a:off x="1158240" y="1602623"/>
            <a:ext cx="84715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A wheeled autonomous robot with all-terrain capability for patrolling and inspecting forested areas.</a:t>
            </a:r>
            <a:endParaRPr lang="ru-RU" sz="3600" cap="all" dirty="0">
              <a:solidFill>
                <a:schemeClr val="bg1"/>
              </a:solidFill>
              <a:latin typeface="ALS Sector Bold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B0934-751B-4EAF-B7C2-596363878FD1}"/>
              </a:ext>
            </a:extLst>
          </p:cNvPr>
          <p:cNvSpPr txBox="1"/>
          <p:nvPr/>
        </p:nvSpPr>
        <p:spPr>
          <a:xfrm>
            <a:off x="1158240" y="4020890"/>
            <a:ext cx="6896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Student</a:t>
            </a:r>
            <a:endParaRPr lang="ru-RU" sz="1400" dirty="0">
              <a:solidFill>
                <a:schemeClr val="bg1"/>
              </a:solidFill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E7948-FB39-4C06-81A1-E06454694024}"/>
              </a:ext>
            </a:extLst>
          </p:cNvPr>
          <p:cNvSpPr txBox="1"/>
          <p:nvPr/>
        </p:nvSpPr>
        <p:spPr>
          <a:xfrm>
            <a:off x="1158240" y="4418483"/>
            <a:ext cx="689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Sannikov</a:t>
            </a:r>
            <a:r>
              <a:rPr lang="en-US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 Artem </a:t>
            </a:r>
            <a:r>
              <a:rPr lang="en-US" sz="2800" dirty="0" err="1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Konstantinovich</a:t>
            </a:r>
            <a:endParaRPr lang="ru-RU" sz="2800" dirty="0">
              <a:solidFill>
                <a:schemeClr val="bg1"/>
              </a:solidFill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358CD-2B4F-4D30-B461-E12B85BC8AF7}"/>
              </a:ext>
            </a:extLst>
          </p:cNvPr>
          <p:cNvSpPr txBox="1"/>
          <p:nvPr/>
        </p:nvSpPr>
        <p:spPr>
          <a:xfrm>
            <a:off x="1158240" y="4849960"/>
            <a:ext cx="689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СМ7-21М</a:t>
            </a:r>
          </a:p>
          <a:p>
            <a:r>
              <a:rPr lang="de-DE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Scientific </a:t>
            </a:r>
            <a:r>
              <a:rPr lang="de-DE" sz="1600" dirty="0" err="1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supervisor</a:t>
            </a:r>
            <a:r>
              <a:rPr lang="de-DE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: </a:t>
            </a:r>
            <a:r>
              <a:rPr lang="en-US" sz="1600" dirty="0" err="1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Gulyaev</a:t>
            </a:r>
            <a:r>
              <a:rPr lang="en-US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 I. A.</a:t>
            </a:r>
            <a:endParaRPr lang="ru-RU" sz="1600" dirty="0">
              <a:solidFill>
                <a:schemeClr val="bg1"/>
              </a:solidFill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D126CA4-6B41-4FD5-80DC-29E40FAE2983}"/>
              </a:ext>
            </a:extLst>
          </p:cNvPr>
          <p:cNvCxnSpPr>
            <a:cxnSpLocks/>
          </p:cNvCxnSpPr>
          <p:nvPr/>
        </p:nvCxnSpPr>
        <p:spPr>
          <a:xfrm>
            <a:off x="2327434" y="4230365"/>
            <a:ext cx="41719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530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4933951" y="635971"/>
            <a:ext cx="565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cap="all" dirty="0" err="1"/>
              <a:t>Relevance</a:t>
            </a:r>
            <a:endParaRPr lang="ru-RU" sz="3200" b="1" cap="all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28A92F5-A5AC-477A-A800-6BD24F81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2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D37909-3693-4864-AFE4-FF0D53806138}"/>
              </a:ext>
            </a:extLst>
          </p:cNvPr>
          <p:cNvSpPr txBox="1"/>
          <p:nvPr/>
        </p:nvSpPr>
        <p:spPr>
          <a:xfrm>
            <a:off x="838200" y="1220746"/>
            <a:ext cx="5295731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forest area of ​​the Moscow region is </a:t>
            </a:r>
          </a:p>
          <a:p>
            <a:endParaRPr lang="en-US" dirty="0"/>
          </a:p>
          <a:p>
            <a:r>
              <a:rPr lang="en-US" sz="2400" dirty="0"/>
              <a:t>1,883,329 hectares.</a:t>
            </a:r>
          </a:p>
          <a:p>
            <a:endParaRPr lang="en-US" dirty="0"/>
          </a:p>
          <a:p>
            <a:r>
              <a:rPr lang="en-US" dirty="0"/>
              <a:t>Length of forest protection routes:</a:t>
            </a:r>
          </a:p>
          <a:p>
            <a:r>
              <a:rPr lang="en-US" sz="2400" dirty="0"/>
              <a:t>400-800 km.</a:t>
            </a:r>
          </a:p>
          <a:p>
            <a:endParaRPr lang="en-US" dirty="0"/>
          </a:p>
          <a:p>
            <a:r>
              <a:rPr lang="en-US" dirty="0"/>
              <a:t>Forests are exposed to threats every year:</a:t>
            </a:r>
          </a:p>
          <a:p>
            <a:r>
              <a:rPr lang="en-US" sz="2000" dirty="0"/>
              <a:t>Pest and disease outbreaks</a:t>
            </a:r>
          </a:p>
          <a:p>
            <a:r>
              <a:rPr lang="en-US" sz="2000" dirty="0"/>
              <a:t>Landfills</a:t>
            </a:r>
          </a:p>
          <a:p>
            <a:r>
              <a:rPr lang="en-US" sz="2000" dirty="0"/>
              <a:t>Defoliation</a:t>
            </a:r>
          </a:p>
          <a:p>
            <a:r>
              <a:rPr lang="en-US" sz="2000" dirty="0"/>
              <a:t>Environmental pollution</a:t>
            </a:r>
          </a:p>
          <a:p>
            <a:endParaRPr lang="en-US" dirty="0"/>
          </a:p>
          <a:p>
            <a:r>
              <a:rPr lang="en-US" dirty="0"/>
              <a:t>Hundreds of man-hours are spent on forest inventory surveys.</a:t>
            </a:r>
            <a:br>
              <a:rPr lang="ru-RU" dirty="0">
                <a:solidFill>
                  <a:schemeClr val="bg1"/>
                </a:solidFill>
              </a:rPr>
            </a:br>
            <a:endParaRPr lang="ru-RU" sz="28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6FD60-8B0E-4AC2-AF21-654827DCF08B}"/>
              </a:ext>
            </a:extLst>
          </p:cNvPr>
          <p:cNvSpPr txBox="1"/>
          <p:nvPr/>
        </p:nvSpPr>
        <p:spPr>
          <a:xfrm>
            <a:off x="5689721" y="5378616"/>
            <a:ext cx="58417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1. Map of forest protection routes provided by the State Autonomous Institution of the Ministry of Forestry “</a:t>
            </a:r>
            <a:r>
              <a:rPr lang="en-US" sz="2000" dirty="0" err="1"/>
              <a:t>Mosoblles</a:t>
            </a:r>
            <a:r>
              <a:rPr lang="en-US" sz="2000" dirty="0"/>
              <a:t>”</a:t>
            </a:r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D064AE8-395C-4CA3-B972-BEE988A7B3C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69314" y="1220746"/>
            <a:ext cx="6267335" cy="419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7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6332887" y="674071"/>
            <a:ext cx="4142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cap="all" dirty="0"/>
              <a:t>Goal and </a:t>
            </a:r>
            <a:r>
              <a:rPr lang="de-DE" sz="3200" b="1" cap="all" dirty="0" err="1"/>
              <a:t>Objectives</a:t>
            </a:r>
            <a:endParaRPr lang="ru-RU" sz="3200" b="1" cap="al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D7AF6C-3297-4608-8467-AE72D0A33501}"/>
              </a:ext>
            </a:extLst>
          </p:cNvPr>
          <p:cNvSpPr txBox="1"/>
          <p:nvPr/>
        </p:nvSpPr>
        <p:spPr>
          <a:xfrm>
            <a:off x="1015478" y="1524258"/>
            <a:ext cx="968727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Goal: Development of kinematics of a wheeled walking platform in accordance with cross-country capability requirements, development of a control system.</a:t>
            </a:r>
          </a:p>
          <a:p>
            <a:endParaRPr lang="ru-RU" sz="1600" i="1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r>
              <a:rPr lang="en-US" sz="1600" i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Supplement the overview section and determine the feasibility of using a UAV in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Develop a kinematic diagram of the platform;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Conduct an energy calculation and engine selection;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Create a platform control system structure;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Create a functional diagram of the platform for developing a control unit.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Evaluate the resulting control system structure and cross-country performance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Refine the work plan for the following semesters.</a:t>
            </a:r>
            <a:endParaRPr lang="ru-RU" sz="2000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br>
              <a:rPr lang="ru-RU" dirty="0"/>
            </a:br>
            <a:br>
              <a:rPr lang="ru-RU" dirty="0"/>
            </a:br>
            <a:endParaRPr lang="ru-RU" sz="2800" dirty="0">
              <a:latin typeface="ST-Donbass" pitchFamily="2" charset="0"/>
            </a:endParaRPr>
          </a:p>
          <a:p>
            <a:endParaRPr lang="en-US" sz="2800" dirty="0">
              <a:latin typeface="ST-Donbass" pitchFamily="2" charset="0"/>
            </a:endParaRP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821E16B-8579-4D49-872A-4B4A8320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05CF9-4AD7-4178-8698-B17213B8EA97}" type="slidenum">
              <a:rPr lang="ru-RU" sz="1600" smtClean="0"/>
              <a:t>3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2512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3439504" y="702426"/>
            <a:ext cx="791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cap="all" dirty="0"/>
              <a:t>FUNCTIONAL DIAGRAM OF THE SYSTEM</a:t>
            </a:r>
            <a:endParaRPr lang="ru-RU" sz="3200" b="1" cap="all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758DBB-F0CF-4120-B504-42CD47FB7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6" y="989815"/>
            <a:ext cx="4755361" cy="56304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630CE4-BDBC-4157-9129-699039D46D9F}"/>
              </a:ext>
            </a:extLst>
          </p:cNvPr>
          <p:cNvSpPr txBox="1"/>
          <p:nvPr/>
        </p:nvSpPr>
        <p:spPr>
          <a:xfrm>
            <a:off x="2607420" y="1287201"/>
            <a:ext cx="77111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 system is designed to navigate unpaved roads and difficult terrain, including windfalls. However, based on forest condition assessments, 100% coverage will not be achieved. To achieve this, it is proposed to deploy a UAV for overflights as a backup system.</a:t>
            </a:r>
            <a:endParaRPr lang="ru-RU" sz="1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CDB062-FB5A-4665-B6FE-28EE0B84FC44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32"/>
          <a:stretch/>
        </p:blipFill>
        <p:spPr bwMode="auto">
          <a:xfrm>
            <a:off x="6617156" y="2487530"/>
            <a:ext cx="4233096" cy="3806331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994738-2DA6-4E75-856B-C04DD4FB4C32}"/>
              </a:ext>
            </a:extLst>
          </p:cNvPr>
          <p:cNvSpPr txBox="1"/>
          <p:nvPr/>
        </p:nvSpPr>
        <p:spPr>
          <a:xfrm>
            <a:off x="587732" y="6493604"/>
            <a:ext cx="37533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Fig. 2 </a:t>
            </a:r>
            <a:r>
              <a:rPr lang="de-DE" sz="2000" dirty="0" err="1"/>
              <a:t>Functional</a:t>
            </a:r>
            <a:r>
              <a:rPr lang="de-DE" sz="2000" dirty="0"/>
              <a:t> </a:t>
            </a:r>
            <a:r>
              <a:rPr lang="de-DE" sz="2000" dirty="0" err="1"/>
              <a:t>diagram</a:t>
            </a:r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8C9CDF-6B88-4178-A646-4E0CAB4FD385}"/>
              </a:ext>
            </a:extLst>
          </p:cNvPr>
          <p:cNvSpPr txBox="1"/>
          <p:nvPr/>
        </p:nvSpPr>
        <p:spPr>
          <a:xfrm>
            <a:off x="6135153" y="6185827"/>
            <a:ext cx="54691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Fig. 3. Scheme of movement and scanning of the area using UAVs</a:t>
            </a:r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B4AAD38-4A8E-4968-93C3-C3EFEC71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29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3728302" y="635971"/>
            <a:ext cx="6864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cap="all" dirty="0"/>
              <a:t>GENERAL STRUCTURE OF THE SYSTEM</a:t>
            </a:r>
            <a:endParaRPr lang="ru-RU" sz="3200" b="1" cap="al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760AF-2069-4F3A-AE91-C6E7999A424D}"/>
              </a:ext>
            </a:extLst>
          </p:cNvPr>
          <p:cNvSpPr txBox="1"/>
          <p:nvPr/>
        </p:nvSpPr>
        <p:spPr>
          <a:xfrm>
            <a:off x="2152582" y="5051303"/>
            <a:ext cx="33147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Fig. 4 System </a:t>
            </a:r>
            <a:r>
              <a:rPr lang="de-DE" sz="2000" dirty="0" err="1"/>
              <a:t>structure</a:t>
            </a:r>
            <a:endParaRPr lang="en-US" sz="2400" dirty="0">
              <a:solidFill>
                <a:schemeClr val="bg1"/>
              </a:solidFill>
              <a:latin typeface="ST-Donbass" pitchFamily="2" charset="0"/>
            </a:endParaRPr>
          </a:p>
          <a:p>
            <a:endParaRPr lang="ru-RU" sz="2400" dirty="0">
              <a:solidFill>
                <a:schemeClr val="bg1"/>
              </a:solidFill>
              <a:latin typeface="ST-Donbass" pitchFamily="2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0E6A1EB-CACD-4F81-BB43-12D99E30D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9" y="2125979"/>
            <a:ext cx="5585487" cy="29452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5EF57E-6FB0-4BFC-9C03-E2F40B091231}"/>
              </a:ext>
            </a:extLst>
          </p:cNvPr>
          <p:cNvSpPr txBox="1"/>
          <p:nvPr/>
        </p:nvSpPr>
        <p:spPr>
          <a:xfrm>
            <a:off x="685800" y="1237310"/>
            <a:ext cx="9563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 customer provided a specification with a list of the required functionality and requirements for the system, which was divided into several parts.</a:t>
            </a:r>
            <a:endParaRPr lang="ru-RU" sz="180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5AF797D-0A24-40B9-A38B-5A8ABE6D8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562" y="4723819"/>
            <a:ext cx="5185812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u="sng" dirty="0"/>
              <a:t>My Goal: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u="sng" dirty="0"/>
              <a:t>Development of an autonomous wheeled platform</a:t>
            </a:r>
            <a:br>
              <a:rPr kumimoji="0" lang="ru-RU" altLang="ru-RU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ru-RU" altLang="ru-RU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61C477-6FC1-4DA1-9F2E-29FD4AB0FCE9}"/>
              </a:ext>
            </a:extLst>
          </p:cNvPr>
          <p:cNvSpPr txBox="1"/>
          <p:nvPr/>
        </p:nvSpPr>
        <p:spPr>
          <a:xfrm>
            <a:off x="1149255" y="5911092"/>
            <a:ext cx="10593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*UAV and drone station are used as a finished product</a:t>
            </a:r>
            <a:endParaRPr lang="ru-RU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57579B0-FB66-4D05-912A-324DA0008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3484" y="2277228"/>
            <a:ext cx="518581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The system's tasks include: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Autonomous movement and territory survey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Navigation, localization, and mapping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Tree inventory and identification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collection and reporting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28A92F5-A5AC-477A-A800-6BD24F81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94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3478492" y="633188"/>
            <a:ext cx="7043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200" b="1" cap="all" dirty="0"/>
              <a:t>Transport </a:t>
            </a:r>
            <a:r>
              <a:rPr lang="de-DE" sz="3200" b="1" cap="all" dirty="0" err="1"/>
              <a:t>platform</a:t>
            </a:r>
            <a:r>
              <a:rPr lang="de-DE" sz="3200" b="1" cap="all" dirty="0"/>
              <a:t> </a:t>
            </a:r>
            <a:r>
              <a:rPr lang="de-DE" sz="3200" b="1" cap="all" dirty="0" err="1"/>
              <a:t>model</a:t>
            </a:r>
            <a:endParaRPr lang="ru-RU" sz="3200" b="1" cap="all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93B295-4AF4-49F2-B9E6-A7941923B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779" y="2335769"/>
            <a:ext cx="5358224" cy="309168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7D8049-140D-4647-A991-95FC3A007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997" y="1987169"/>
            <a:ext cx="5466990" cy="35205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682B81-2FE0-4708-A1D7-A2EC8235671B}"/>
              </a:ext>
            </a:extLst>
          </p:cNvPr>
          <p:cNvSpPr txBox="1"/>
          <p:nvPr/>
        </p:nvSpPr>
        <p:spPr>
          <a:xfrm>
            <a:off x="1203623" y="5590192"/>
            <a:ext cx="3179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5 Kinematics model, 16 axes of rotation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28A18-EA23-4C07-AE58-BDA866B6E642}"/>
              </a:ext>
            </a:extLst>
          </p:cNvPr>
          <p:cNvSpPr txBox="1"/>
          <p:nvPr/>
        </p:nvSpPr>
        <p:spPr>
          <a:xfrm>
            <a:off x="6305095" y="5507730"/>
            <a:ext cx="3824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6 Working area of ​​each link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F45D76BB-0E93-4059-9A43-E8C222A9C621}"/>
              </a:ext>
            </a:extLst>
          </p:cNvPr>
          <p:cNvCxnSpPr>
            <a:cxnSpLocks/>
          </p:cNvCxnSpPr>
          <p:nvPr/>
        </p:nvCxnSpPr>
        <p:spPr>
          <a:xfrm flipH="1">
            <a:off x="3667027" y="2040904"/>
            <a:ext cx="716437" cy="113121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33A80F7-BBF0-472E-86CB-F8A6B730C153}"/>
              </a:ext>
            </a:extLst>
          </p:cNvPr>
          <p:cNvCxnSpPr>
            <a:cxnSpLocks/>
          </p:cNvCxnSpPr>
          <p:nvPr/>
        </p:nvCxnSpPr>
        <p:spPr>
          <a:xfrm flipH="1">
            <a:off x="4383464" y="2040904"/>
            <a:ext cx="751464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4A7205-6280-4E5A-BC5C-D6D6590BF036}"/>
              </a:ext>
            </a:extLst>
          </p:cNvPr>
          <p:cNvSpPr txBox="1"/>
          <p:nvPr/>
        </p:nvSpPr>
        <p:spPr>
          <a:xfrm>
            <a:off x="4342090" y="1645800"/>
            <a:ext cx="145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Platform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72C95116-3950-4183-B17D-C354F9F29702}"/>
              </a:ext>
            </a:extLst>
          </p:cNvPr>
          <p:cNvCxnSpPr>
            <a:cxnSpLocks/>
          </p:cNvCxnSpPr>
          <p:nvPr/>
        </p:nvCxnSpPr>
        <p:spPr>
          <a:xfrm>
            <a:off x="2057400" y="1710406"/>
            <a:ext cx="392430" cy="57940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C5548BB-EB0B-4A66-B2B6-FB89C32FA743}"/>
              </a:ext>
            </a:extLst>
          </p:cNvPr>
          <p:cNvCxnSpPr>
            <a:cxnSpLocks/>
          </p:cNvCxnSpPr>
          <p:nvPr/>
        </p:nvCxnSpPr>
        <p:spPr>
          <a:xfrm>
            <a:off x="1478280" y="1710406"/>
            <a:ext cx="57912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8017F48-18C5-48CD-B3C2-062D9B18BA92}"/>
              </a:ext>
            </a:extLst>
          </p:cNvPr>
          <p:cNvSpPr txBox="1"/>
          <p:nvPr/>
        </p:nvSpPr>
        <p:spPr>
          <a:xfrm>
            <a:off x="1207057" y="1270378"/>
            <a:ext cx="145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Wheel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4B0D2D-C630-49C6-9C02-62F2A7460462}"/>
              </a:ext>
            </a:extLst>
          </p:cNvPr>
          <p:cNvSpPr txBox="1"/>
          <p:nvPr/>
        </p:nvSpPr>
        <p:spPr>
          <a:xfrm>
            <a:off x="696231" y="2289810"/>
            <a:ext cx="145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Joint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97AA3A-A13A-4815-989F-919608A48BE6}"/>
              </a:ext>
            </a:extLst>
          </p:cNvPr>
          <p:cNvSpPr txBox="1"/>
          <p:nvPr/>
        </p:nvSpPr>
        <p:spPr>
          <a:xfrm>
            <a:off x="5184411" y="4795370"/>
            <a:ext cx="145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Joint</a:t>
            </a:r>
            <a:r>
              <a:rPr lang="ru-RU" dirty="0"/>
              <a:t> 2</a:t>
            </a:r>
            <a:endParaRPr lang="en-US" dirty="0"/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F5311584-B75E-45D9-A103-D4F7A3CE469B}"/>
              </a:ext>
            </a:extLst>
          </p:cNvPr>
          <p:cNvCxnSpPr>
            <a:cxnSpLocks/>
          </p:cNvCxnSpPr>
          <p:nvPr/>
        </p:nvCxnSpPr>
        <p:spPr>
          <a:xfrm flipH="1" flipV="1">
            <a:off x="4931749" y="4286250"/>
            <a:ext cx="290490" cy="83208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5D54B79C-0E54-462B-8467-8B8891E5F40B}"/>
              </a:ext>
            </a:extLst>
          </p:cNvPr>
          <p:cNvCxnSpPr>
            <a:cxnSpLocks/>
          </p:cNvCxnSpPr>
          <p:nvPr/>
        </p:nvCxnSpPr>
        <p:spPr>
          <a:xfrm>
            <a:off x="5222239" y="5118332"/>
            <a:ext cx="57912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D97FF96C-2B02-46A2-A90A-7E39CD7943AB}"/>
              </a:ext>
            </a:extLst>
          </p:cNvPr>
          <p:cNvCxnSpPr>
            <a:cxnSpLocks/>
          </p:cNvCxnSpPr>
          <p:nvPr/>
        </p:nvCxnSpPr>
        <p:spPr>
          <a:xfrm>
            <a:off x="1499109" y="2615283"/>
            <a:ext cx="462603" cy="737517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C36B07C7-5D3D-48EF-A6F2-572C812DAAC5}"/>
              </a:ext>
            </a:extLst>
          </p:cNvPr>
          <p:cNvCxnSpPr>
            <a:cxnSpLocks/>
          </p:cNvCxnSpPr>
          <p:nvPr/>
        </p:nvCxnSpPr>
        <p:spPr>
          <a:xfrm>
            <a:off x="919989" y="2615283"/>
            <a:ext cx="57912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B66FBF4-7553-4737-94EC-3753D8F57AD4}"/>
              </a:ext>
            </a:extLst>
          </p:cNvPr>
          <p:cNvCxnSpPr>
            <a:cxnSpLocks/>
          </p:cNvCxnSpPr>
          <p:nvPr/>
        </p:nvCxnSpPr>
        <p:spPr>
          <a:xfrm flipV="1">
            <a:off x="7010400" y="4964145"/>
            <a:ext cx="986790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72F4A3ED-944F-407A-9BEB-2344B45188D3}"/>
              </a:ext>
            </a:extLst>
          </p:cNvPr>
          <p:cNvCxnSpPr>
            <a:cxnSpLocks/>
          </p:cNvCxnSpPr>
          <p:nvPr/>
        </p:nvCxnSpPr>
        <p:spPr>
          <a:xfrm flipV="1">
            <a:off x="6993255" y="4964146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1AC48C74-9BD0-4513-ABC2-C47A83980D69}"/>
              </a:ext>
            </a:extLst>
          </p:cNvPr>
          <p:cNvCxnSpPr>
            <a:cxnSpLocks/>
          </p:cNvCxnSpPr>
          <p:nvPr/>
        </p:nvCxnSpPr>
        <p:spPr>
          <a:xfrm flipV="1">
            <a:off x="7116355" y="4964146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F262D171-2104-42D3-BFB7-B45826F96352}"/>
              </a:ext>
            </a:extLst>
          </p:cNvPr>
          <p:cNvCxnSpPr>
            <a:cxnSpLocks/>
          </p:cNvCxnSpPr>
          <p:nvPr/>
        </p:nvCxnSpPr>
        <p:spPr>
          <a:xfrm flipV="1">
            <a:off x="7231290" y="4964147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A4E4A23E-9095-40AF-905C-7F18DD8E3F11}"/>
              </a:ext>
            </a:extLst>
          </p:cNvPr>
          <p:cNvCxnSpPr>
            <a:cxnSpLocks/>
          </p:cNvCxnSpPr>
          <p:nvPr/>
        </p:nvCxnSpPr>
        <p:spPr>
          <a:xfrm flipV="1">
            <a:off x="7354390" y="4964147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20B6DC4F-64F2-4A89-8C61-C511FA61205F}"/>
              </a:ext>
            </a:extLst>
          </p:cNvPr>
          <p:cNvCxnSpPr>
            <a:cxnSpLocks/>
          </p:cNvCxnSpPr>
          <p:nvPr/>
        </p:nvCxnSpPr>
        <p:spPr>
          <a:xfrm flipV="1">
            <a:off x="7470183" y="4964145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42521AFB-2DD9-4D42-A07E-E15BE8A929B1}"/>
              </a:ext>
            </a:extLst>
          </p:cNvPr>
          <p:cNvCxnSpPr>
            <a:cxnSpLocks/>
          </p:cNvCxnSpPr>
          <p:nvPr/>
        </p:nvCxnSpPr>
        <p:spPr>
          <a:xfrm flipV="1">
            <a:off x="7593283" y="4964145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1BBFD335-D23D-43E5-9A03-2B6C1E46681C}"/>
              </a:ext>
            </a:extLst>
          </p:cNvPr>
          <p:cNvCxnSpPr>
            <a:cxnSpLocks/>
          </p:cNvCxnSpPr>
          <p:nvPr/>
        </p:nvCxnSpPr>
        <p:spPr>
          <a:xfrm flipV="1">
            <a:off x="7708218" y="4964146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07C96FCB-BD78-45A2-89ED-0ADD3287E597}"/>
              </a:ext>
            </a:extLst>
          </p:cNvPr>
          <p:cNvCxnSpPr>
            <a:cxnSpLocks/>
          </p:cNvCxnSpPr>
          <p:nvPr/>
        </p:nvCxnSpPr>
        <p:spPr>
          <a:xfrm flipV="1">
            <a:off x="7831318" y="4964146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894A84FD-82AF-4DE9-8A55-30AC3C2F8E76}"/>
              </a:ext>
            </a:extLst>
          </p:cNvPr>
          <p:cNvCxnSpPr>
            <a:cxnSpLocks/>
          </p:cNvCxnSpPr>
          <p:nvPr/>
        </p:nvCxnSpPr>
        <p:spPr>
          <a:xfrm flipV="1">
            <a:off x="9745103" y="4938745"/>
            <a:ext cx="986790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144647FF-59CD-4F64-A501-C06DB3BF4C51}"/>
              </a:ext>
            </a:extLst>
          </p:cNvPr>
          <p:cNvCxnSpPr>
            <a:cxnSpLocks/>
          </p:cNvCxnSpPr>
          <p:nvPr/>
        </p:nvCxnSpPr>
        <p:spPr>
          <a:xfrm flipV="1">
            <a:off x="9727958" y="4938746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BCB59F82-FA11-4638-B9BD-B454FAEE43A3}"/>
              </a:ext>
            </a:extLst>
          </p:cNvPr>
          <p:cNvCxnSpPr>
            <a:cxnSpLocks/>
          </p:cNvCxnSpPr>
          <p:nvPr/>
        </p:nvCxnSpPr>
        <p:spPr>
          <a:xfrm flipV="1">
            <a:off x="9851058" y="4938746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65B97EF8-3A01-4383-BB43-C0512DD72E24}"/>
              </a:ext>
            </a:extLst>
          </p:cNvPr>
          <p:cNvCxnSpPr>
            <a:cxnSpLocks/>
          </p:cNvCxnSpPr>
          <p:nvPr/>
        </p:nvCxnSpPr>
        <p:spPr>
          <a:xfrm flipV="1">
            <a:off x="9965993" y="4938747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6C017BB7-6200-4FE3-97F7-635EC568AEE9}"/>
              </a:ext>
            </a:extLst>
          </p:cNvPr>
          <p:cNvCxnSpPr>
            <a:cxnSpLocks/>
          </p:cNvCxnSpPr>
          <p:nvPr/>
        </p:nvCxnSpPr>
        <p:spPr>
          <a:xfrm flipV="1">
            <a:off x="10089093" y="4938747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0DB0FEFB-AD10-4E7D-AA15-BAE63861D1EF}"/>
              </a:ext>
            </a:extLst>
          </p:cNvPr>
          <p:cNvCxnSpPr>
            <a:cxnSpLocks/>
          </p:cNvCxnSpPr>
          <p:nvPr/>
        </p:nvCxnSpPr>
        <p:spPr>
          <a:xfrm flipV="1">
            <a:off x="10204886" y="4938745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83D71632-F359-450E-AB1B-F00AF6A373DB}"/>
              </a:ext>
            </a:extLst>
          </p:cNvPr>
          <p:cNvCxnSpPr>
            <a:cxnSpLocks/>
          </p:cNvCxnSpPr>
          <p:nvPr/>
        </p:nvCxnSpPr>
        <p:spPr>
          <a:xfrm flipV="1">
            <a:off x="10327986" y="4938745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9FA73102-CF33-47EA-AB82-48DEF4DCF423}"/>
              </a:ext>
            </a:extLst>
          </p:cNvPr>
          <p:cNvCxnSpPr>
            <a:cxnSpLocks/>
          </p:cNvCxnSpPr>
          <p:nvPr/>
        </p:nvCxnSpPr>
        <p:spPr>
          <a:xfrm flipV="1">
            <a:off x="10442921" y="4938746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0492CAA4-68F9-42AF-89CA-AC74F955A7B4}"/>
              </a:ext>
            </a:extLst>
          </p:cNvPr>
          <p:cNvCxnSpPr>
            <a:cxnSpLocks/>
          </p:cNvCxnSpPr>
          <p:nvPr/>
        </p:nvCxnSpPr>
        <p:spPr>
          <a:xfrm flipV="1">
            <a:off x="10566021" y="4938746"/>
            <a:ext cx="132080" cy="1279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4CFA216-0F17-461A-953C-3575B947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49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3478492" y="633188"/>
            <a:ext cx="7043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200" b="1" cap="all" dirty="0"/>
              <a:t>Different </a:t>
            </a:r>
            <a:r>
              <a:rPr lang="de-DE" sz="3200" b="1" cap="all" dirty="0" err="1"/>
              <a:t>states</a:t>
            </a:r>
            <a:r>
              <a:rPr lang="de-DE" sz="3200" b="1" cap="all" dirty="0"/>
              <a:t> </a:t>
            </a:r>
            <a:r>
              <a:rPr lang="de-DE" sz="3200" b="1" cap="all" dirty="0" err="1"/>
              <a:t>of</a:t>
            </a:r>
            <a:r>
              <a:rPr lang="de-DE" sz="3200" b="1" cap="all" dirty="0"/>
              <a:t> </a:t>
            </a:r>
            <a:r>
              <a:rPr lang="de-DE" sz="3200" b="1" cap="all" dirty="0" err="1"/>
              <a:t>motion</a:t>
            </a:r>
            <a:endParaRPr lang="ru-RU" sz="3200" b="1" cap="all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03311A-36BD-4C0C-97EF-9A087AC74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962" y="4057135"/>
            <a:ext cx="3898083" cy="22342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98F67F-F7E5-4988-B59E-81B640236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3287" y="1596881"/>
            <a:ext cx="4003344" cy="214887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2DDA11B-94BC-458B-A959-4AE35F8D56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552" y="1217963"/>
            <a:ext cx="3683564" cy="252779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8215AC5-F5D6-47EB-83E4-176D93A16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4145" y="4126567"/>
            <a:ext cx="3639646" cy="20953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9BE567E-AC76-45FF-A6D3-D8017DCA07E4}"/>
              </a:ext>
            </a:extLst>
          </p:cNvPr>
          <p:cNvSpPr txBox="1"/>
          <p:nvPr/>
        </p:nvSpPr>
        <p:spPr>
          <a:xfrm>
            <a:off x="1225273" y="3539618"/>
            <a:ext cx="3851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9 Accelerated movement on a flat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6C31C0-AA4C-4AE1-B84F-E310644D8A16}"/>
              </a:ext>
            </a:extLst>
          </p:cNvPr>
          <p:cNvSpPr txBox="1"/>
          <p:nvPr/>
        </p:nvSpPr>
        <p:spPr>
          <a:xfrm>
            <a:off x="1225272" y="6076999"/>
            <a:ext cx="3851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7 Maximum ground clearance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5F654E-AEAC-48C3-85D5-47062B71C820}"/>
              </a:ext>
            </a:extLst>
          </p:cNvPr>
          <p:cNvSpPr txBox="1"/>
          <p:nvPr/>
        </p:nvSpPr>
        <p:spPr>
          <a:xfrm>
            <a:off x="6241903" y="3523886"/>
            <a:ext cx="4961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10 Using joints and wheel rotation to overcome obstacles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F9146-0E78-4F97-B855-98FF314693A0}"/>
              </a:ext>
            </a:extLst>
          </p:cNvPr>
          <p:cNvSpPr txBox="1"/>
          <p:nvPr/>
        </p:nvSpPr>
        <p:spPr>
          <a:xfrm>
            <a:off x="6480552" y="6076999"/>
            <a:ext cx="3898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8. Stable position</a:t>
            </a:r>
          </a:p>
          <a:p>
            <a:pPr algn="l"/>
            <a:r>
              <a:rPr lang="en-US" dirty="0"/>
              <a:t>"On the belly"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16E3509-1C79-43C3-AA15-D8871CA0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1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2213811" y="844659"/>
            <a:ext cx="8222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cap="all" dirty="0"/>
              <a:t>Evaluation of the obtained </a:t>
            </a:r>
            <a:r>
              <a:rPr lang="en-US" sz="3200" b="1" cap="all" dirty="0" err="1"/>
              <a:t>passability</a:t>
            </a:r>
            <a:endParaRPr lang="ru-RU" sz="3200" b="1" cap="all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96A8E21-CA0E-4D34-8DAF-46D5AD29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8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62966-F262-414F-8B6B-832688667E7B}"/>
              </a:ext>
            </a:extLst>
          </p:cNvPr>
          <p:cNvSpPr txBox="1"/>
          <p:nvPr/>
        </p:nvSpPr>
        <p:spPr>
          <a:xfrm>
            <a:off x="752475" y="1729859"/>
            <a:ext cx="96835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Ground pressure of </a:t>
            </a:r>
            <a:r>
              <a:rPr lang="en-US" b="1" dirty="0"/>
              <a:t>0.29 kg/cm² </a:t>
            </a:r>
            <a:r>
              <a:rPr lang="en-US" dirty="0"/>
              <a:t>with a robot weight of 170 kg and 8 wheels in contact simultaneously – reducing the pressure in the chambers reduces ground pressure.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Maximum cross-country ability (theoretical): </a:t>
            </a:r>
            <a:r>
              <a:rPr lang="en-US" b="1" dirty="0"/>
              <a:t>339 mm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Minimum slope capability (including stabilization): </a:t>
            </a:r>
            <a:r>
              <a:rPr lang="en-US" b="1" dirty="0"/>
              <a:t>22°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3B84C6-8265-4615-BFBB-7D74F77A8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563" y="3429000"/>
            <a:ext cx="4410687" cy="26368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564E20-3CC1-44E9-B043-C2E69B5075C3}"/>
              </a:ext>
            </a:extLst>
          </p:cNvPr>
          <p:cNvSpPr txBox="1"/>
          <p:nvPr/>
        </p:nvSpPr>
        <p:spPr>
          <a:xfrm>
            <a:off x="7394375" y="6065823"/>
            <a:ext cx="3851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11. Assessment of profile cross-country ability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A62025-2E9E-4F5B-9B19-5120196C6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5808" y="3602485"/>
            <a:ext cx="4137224" cy="26368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51E12A-AD05-4D2A-977B-9C7C36BDBDFD}"/>
              </a:ext>
            </a:extLst>
          </p:cNvPr>
          <p:cNvSpPr txBox="1"/>
          <p:nvPr/>
        </p:nvSpPr>
        <p:spPr>
          <a:xfrm>
            <a:off x="2375808" y="6033184"/>
            <a:ext cx="3851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dirty="0"/>
              <a:t>Fig. 12 </a:t>
            </a:r>
            <a:r>
              <a:rPr lang="de-DE" dirty="0" err="1"/>
              <a:t>Slope</a:t>
            </a:r>
            <a:r>
              <a:rPr lang="de-DE" dirty="0"/>
              <a:t> </a:t>
            </a:r>
            <a:r>
              <a:rPr lang="de-DE" dirty="0" err="1"/>
              <a:t>assessment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823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3093720" y="633188"/>
            <a:ext cx="74279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cap="all" dirty="0"/>
              <a:t>Energy calculation: finding drive capacities</a:t>
            </a:r>
            <a:endParaRPr lang="ru-RU" sz="3200" b="1" cap="al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6C31C0-AA4C-4AE1-B84F-E310644D8A16}"/>
              </a:ext>
            </a:extLst>
          </p:cNvPr>
          <p:cNvSpPr txBox="1"/>
          <p:nvPr/>
        </p:nvSpPr>
        <p:spPr>
          <a:xfrm>
            <a:off x="8518949" y="6348433"/>
            <a:ext cx="3851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dirty="0"/>
              <a:t>Fig. 13 </a:t>
            </a:r>
            <a:r>
              <a:rPr lang="de-DE" dirty="0" err="1"/>
              <a:t>Axes</a:t>
            </a:r>
            <a:r>
              <a:rPr lang="de-DE" dirty="0"/>
              <a:t> Designation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F9146-0E78-4F97-B855-98FF314693A0}"/>
              </a:ext>
            </a:extLst>
          </p:cNvPr>
          <p:cNvSpPr txBox="1"/>
          <p:nvPr/>
        </p:nvSpPr>
        <p:spPr>
          <a:xfrm>
            <a:off x="712764" y="1424620"/>
            <a:ext cx="4938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Let's calculate the drive power for the hip, knee and wheel joints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8E85B1-085F-409B-9EF2-17FE03AB0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374" y="3538829"/>
            <a:ext cx="2846478" cy="2770852"/>
          </a:xfrm>
          <a:prstGeom prst="rect">
            <a:avLst/>
          </a:prstGeom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C0196828-F78C-400D-8F7A-EFD148D56E75}"/>
              </a:ext>
            </a:extLst>
          </p:cNvPr>
          <p:cNvCxnSpPr>
            <a:cxnSpLocks/>
          </p:cNvCxnSpPr>
          <p:nvPr/>
        </p:nvCxnSpPr>
        <p:spPr>
          <a:xfrm flipH="1">
            <a:off x="9525000" y="3247371"/>
            <a:ext cx="629920" cy="102975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0DFC788-70A1-4C6D-A4E8-BBB28CD10C7A}"/>
              </a:ext>
            </a:extLst>
          </p:cNvPr>
          <p:cNvCxnSpPr>
            <a:cxnSpLocks/>
          </p:cNvCxnSpPr>
          <p:nvPr/>
        </p:nvCxnSpPr>
        <p:spPr>
          <a:xfrm>
            <a:off x="10154920" y="3249127"/>
            <a:ext cx="57912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BF7ED0E-25A2-4EC4-813F-B23E8E7A8851}"/>
              </a:ext>
            </a:extLst>
          </p:cNvPr>
          <p:cNvSpPr txBox="1"/>
          <p:nvPr/>
        </p:nvSpPr>
        <p:spPr>
          <a:xfrm>
            <a:off x="10085583" y="2895031"/>
            <a:ext cx="145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Hip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3F6B13AB-6BD2-417E-8E4B-06E44579B8FA}"/>
              </a:ext>
            </a:extLst>
          </p:cNvPr>
          <p:cNvCxnSpPr>
            <a:cxnSpLocks/>
          </p:cNvCxnSpPr>
          <p:nvPr/>
        </p:nvCxnSpPr>
        <p:spPr>
          <a:xfrm flipV="1">
            <a:off x="8773160" y="5327904"/>
            <a:ext cx="1407160" cy="64109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4E85076-BBCC-4744-A66E-5B9E2A33CF1C}"/>
              </a:ext>
            </a:extLst>
          </p:cNvPr>
          <p:cNvCxnSpPr>
            <a:cxnSpLocks/>
          </p:cNvCxnSpPr>
          <p:nvPr/>
        </p:nvCxnSpPr>
        <p:spPr>
          <a:xfrm>
            <a:off x="8194040" y="5969000"/>
            <a:ext cx="57912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DAB9C18-9C41-4D03-9278-ECA5C23B9D82}"/>
              </a:ext>
            </a:extLst>
          </p:cNvPr>
          <p:cNvSpPr txBox="1"/>
          <p:nvPr/>
        </p:nvSpPr>
        <p:spPr>
          <a:xfrm>
            <a:off x="7539388" y="5648452"/>
            <a:ext cx="145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Knee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C5EDC8-A82A-450A-931E-173395DBF130}"/>
              </a:ext>
            </a:extLst>
          </p:cNvPr>
          <p:cNvSpPr txBox="1"/>
          <p:nvPr/>
        </p:nvSpPr>
        <p:spPr>
          <a:xfrm>
            <a:off x="10406380" y="3762247"/>
            <a:ext cx="145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Wheel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BB08AD76-CFD7-459E-928F-26BA88DB7DF4}"/>
              </a:ext>
            </a:extLst>
          </p:cNvPr>
          <p:cNvCxnSpPr>
            <a:cxnSpLocks/>
          </p:cNvCxnSpPr>
          <p:nvPr/>
        </p:nvCxnSpPr>
        <p:spPr>
          <a:xfrm>
            <a:off x="10471047" y="4094480"/>
            <a:ext cx="57912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446CBE6A-D25B-4320-87F9-789A2A09CFD1}"/>
              </a:ext>
            </a:extLst>
          </p:cNvPr>
          <p:cNvCxnSpPr>
            <a:cxnSpLocks/>
          </p:cNvCxnSpPr>
          <p:nvPr/>
        </p:nvCxnSpPr>
        <p:spPr>
          <a:xfrm>
            <a:off x="10471047" y="4094480"/>
            <a:ext cx="262993" cy="89274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935CA5-2DE2-410C-AA88-B17F4ADB27E7}"/>
                  </a:ext>
                </a:extLst>
              </p:cNvPr>
              <p:cNvSpPr txBox="1"/>
              <p:nvPr/>
            </p:nvSpPr>
            <p:spPr>
              <a:xfrm>
                <a:off x="712764" y="2270469"/>
                <a:ext cx="4938606" cy="2536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dirty="0"/>
                  <a:t>Power requirement for the Wheel </a:t>
                </a:r>
                <a:r>
                  <a:rPr lang="ru-RU" dirty="0"/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Р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дв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р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𝜉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н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=1.2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204.69</m:t>
                          </m:r>
                        </m:num>
                        <m:den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0.6</m:t>
                          </m:r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𝟒𝟎𝟖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Вт</m:t>
                      </m:r>
                    </m:oMath>
                  </m:oMathPara>
                </a14:m>
                <a:endParaRPr lang="ru-RU" sz="1800" b="1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Power requirement for the Knee:</a:t>
                </a:r>
                <a:endParaRPr lang="en-US" sz="1800" i="1" dirty="0"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Р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дв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р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𝟏𝟑𝟐𝟔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Вт</m:t>
                      </m:r>
                    </m:oMath>
                  </m:oMathPara>
                </a14:m>
                <a:endParaRPr lang="ru-RU" dirty="0"/>
              </a:p>
              <a:p>
                <a:pPr algn="l"/>
                <a:r>
                  <a:rPr lang="de-DE" dirty="0"/>
                  <a:t>Power requirement for hip:</a:t>
                </a:r>
                <a:endParaRPr lang="en-US" sz="1800" i="1" dirty="0">
                  <a:effectLst/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Р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дв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р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ru-RU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𝟖𝟔𝟐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Вт</m:t>
                      </m:r>
                    </m:oMath>
                  </m:oMathPara>
                </a14:m>
                <a:endParaRPr lang="ru-RU" dirty="0"/>
              </a:p>
              <a:p>
                <a:pPr algn="l"/>
                <a:endParaRPr lang="ru-R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935CA5-2DE2-410C-AA88-B17F4ADB2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64" y="2270469"/>
                <a:ext cx="4938606" cy="2536720"/>
              </a:xfrm>
              <a:prstGeom prst="rect">
                <a:avLst/>
              </a:prstGeom>
              <a:blipFill>
                <a:blip r:embed="rId5"/>
                <a:stretch>
                  <a:fillRect l="-1111" t="-11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3">
                <a:extLst>
                  <a:ext uri="{FF2B5EF4-FFF2-40B4-BE49-F238E27FC236}">
                    <a16:creationId xmlns:a16="http://schemas.microsoft.com/office/drawing/2014/main" id="{C858972F-D4CE-4381-A99C-B30A8383F2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6313842"/>
                  </p:ext>
                </p:extLst>
              </p:nvPr>
            </p:nvGraphicFramePr>
            <p:xfrm>
              <a:off x="1403945" y="4691700"/>
              <a:ext cx="588327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1092">
                      <a:extLst>
                        <a:ext uri="{9D8B030D-6E8A-4147-A177-3AD203B41FA5}">
                          <a16:colId xmlns:a16="http://schemas.microsoft.com/office/drawing/2014/main" val="4043424725"/>
                        </a:ext>
                      </a:extLst>
                    </a:gridCol>
                    <a:gridCol w="1961092">
                      <a:extLst>
                        <a:ext uri="{9D8B030D-6E8A-4147-A177-3AD203B41FA5}">
                          <a16:colId xmlns:a16="http://schemas.microsoft.com/office/drawing/2014/main" val="1113963162"/>
                        </a:ext>
                      </a:extLst>
                    </a:gridCol>
                    <a:gridCol w="1961092">
                      <a:extLst>
                        <a:ext uri="{9D8B030D-6E8A-4147-A177-3AD203B41FA5}">
                          <a16:colId xmlns:a16="http://schemas.microsoft.com/office/drawing/2014/main" val="3058151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drive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torque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Speed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57433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Wheel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3.68 Н∗м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55</m:t>
                                </m:r>
                                <m:r>
                                  <a:rPr lang="en-US" sz="1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,6 </m:t>
                                </m:r>
                                <m:r>
                                  <a:rPr lang="ru-RU" sz="1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рад\с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3601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Knee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97 Н∗м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lang="en-US" sz="1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,8 </m:t>
                                </m:r>
                                <m:r>
                                  <a:rPr lang="ru-RU" sz="1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рад\с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67097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Hip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194</m:t>
                                </m:r>
                                <m:r>
                                  <a:rPr lang="ru-RU" sz="1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ru-RU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Н∗м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lang="en-US" sz="1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,8 </m:t>
                                </m:r>
                                <m:r>
                                  <a:rPr lang="ru-RU" sz="1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рад\с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26294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3">
                <a:extLst>
                  <a:ext uri="{FF2B5EF4-FFF2-40B4-BE49-F238E27FC236}">
                    <a16:creationId xmlns:a16="http://schemas.microsoft.com/office/drawing/2014/main" id="{C858972F-D4CE-4381-A99C-B30A8383F2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6313842"/>
                  </p:ext>
                </p:extLst>
              </p:nvPr>
            </p:nvGraphicFramePr>
            <p:xfrm>
              <a:off x="1403945" y="4691700"/>
              <a:ext cx="588327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1092">
                      <a:extLst>
                        <a:ext uri="{9D8B030D-6E8A-4147-A177-3AD203B41FA5}">
                          <a16:colId xmlns:a16="http://schemas.microsoft.com/office/drawing/2014/main" val="4043424725"/>
                        </a:ext>
                      </a:extLst>
                    </a:gridCol>
                    <a:gridCol w="1961092">
                      <a:extLst>
                        <a:ext uri="{9D8B030D-6E8A-4147-A177-3AD203B41FA5}">
                          <a16:colId xmlns:a16="http://schemas.microsoft.com/office/drawing/2014/main" val="1113963162"/>
                        </a:ext>
                      </a:extLst>
                    </a:gridCol>
                    <a:gridCol w="1961092">
                      <a:extLst>
                        <a:ext uri="{9D8B030D-6E8A-4147-A177-3AD203B41FA5}">
                          <a16:colId xmlns:a16="http://schemas.microsoft.com/office/drawing/2014/main" val="3058151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drive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torque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Speed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57433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Wheel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00311" t="-108197" r="-10124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200311" t="-108197" r="-124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3601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Knee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00311" t="-208197" r="-10124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200311" t="-208197" r="-124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67097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Hip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00311" t="-308197" r="-10124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200311" t="-308197" r="-124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62946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F865C04-C353-4AA2-9E11-541032C8352C}"/>
              </a:ext>
            </a:extLst>
          </p:cNvPr>
          <p:cNvCxnSpPr/>
          <p:nvPr/>
        </p:nvCxnSpPr>
        <p:spPr>
          <a:xfrm>
            <a:off x="9747504" y="5648452"/>
            <a:ext cx="554736" cy="6612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CC80F96F-4F67-4C7A-ABCC-F9C28CEDC629}"/>
              </a:ext>
            </a:extLst>
          </p:cNvPr>
          <p:cNvCxnSpPr/>
          <p:nvPr/>
        </p:nvCxnSpPr>
        <p:spPr>
          <a:xfrm>
            <a:off x="10234953" y="5343279"/>
            <a:ext cx="554736" cy="6612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3E578923-5F95-4424-AC7F-CF811D55CFF8}"/>
              </a:ext>
            </a:extLst>
          </p:cNvPr>
          <p:cNvCxnSpPr/>
          <p:nvPr/>
        </p:nvCxnSpPr>
        <p:spPr>
          <a:xfrm flipV="1">
            <a:off x="10302240" y="5969000"/>
            <a:ext cx="431800" cy="34068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B8EEA9B-71D3-499F-B303-E5CFEA9B2F49}"/>
              </a:ext>
            </a:extLst>
          </p:cNvPr>
          <p:cNvSpPr txBox="1"/>
          <p:nvPr/>
        </p:nvSpPr>
        <p:spPr>
          <a:xfrm rot="19222585">
            <a:off x="10146571" y="5886407"/>
            <a:ext cx="709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200" dirty="0"/>
              <a:t>250мм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1BCECF-6B8D-4608-8DDF-5804CA5B75F1}"/>
              </a:ext>
            </a:extLst>
          </p:cNvPr>
          <p:cNvSpPr txBox="1"/>
          <p:nvPr/>
        </p:nvSpPr>
        <p:spPr>
          <a:xfrm rot="3353485">
            <a:off x="8836159" y="5186417"/>
            <a:ext cx="709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200" dirty="0"/>
              <a:t>500мм</a:t>
            </a:r>
            <a:endParaRPr lang="en-US" sz="1200" dirty="0"/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44778764-F634-4DB4-B9EC-4D20836292FA}"/>
              </a:ext>
            </a:extLst>
          </p:cNvPr>
          <p:cNvCxnSpPr>
            <a:cxnSpLocks/>
            <a:stCxn id="3" idx="1"/>
          </p:cNvCxnSpPr>
          <p:nvPr/>
        </p:nvCxnSpPr>
        <p:spPr>
          <a:xfrm flipV="1">
            <a:off x="8698374" y="4297665"/>
            <a:ext cx="794293" cy="6265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2D0F2678-C105-4BEB-9452-147219E7DBF0}"/>
              </a:ext>
            </a:extLst>
          </p:cNvPr>
          <p:cNvCxnSpPr>
            <a:cxnSpLocks/>
          </p:cNvCxnSpPr>
          <p:nvPr/>
        </p:nvCxnSpPr>
        <p:spPr>
          <a:xfrm flipV="1">
            <a:off x="9454957" y="5363309"/>
            <a:ext cx="794293" cy="6265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79F9CD58-F226-41A6-BD44-868D48EE5827}"/>
              </a:ext>
            </a:extLst>
          </p:cNvPr>
          <p:cNvCxnSpPr>
            <a:cxnSpLocks/>
          </p:cNvCxnSpPr>
          <p:nvPr/>
        </p:nvCxnSpPr>
        <p:spPr>
          <a:xfrm>
            <a:off x="8745590" y="4894326"/>
            <a:ext cx="757401" cy="103551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58B01D37-60B6-4EB8-B898-F7A9C7B47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8063" y="6357714"/>
            <a:ext cx="2981325" cy="365125"/>
          </a:xfrm>
        </p:spPr>
        <p:txBody>
          <a:bodyPr/>
          <a:lstStyle/>
          <a:p>
            <a:fld id="{B674A2C2-532C-46A3-A498-5AC81FC8E1CB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62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18B73F-EB93-4F3D-A4C2-6CC2462C7FE2}"/>
              </a:ext>
            </a:extLst>
          </p:cNvPr>
          <p:cNvSpPr/>
          <p:nvPr/>
        </p:nvSpPr>
        <p:spPr>
          <a:xfrm>
            <a:off x="123825" y="1552575"/>
            <a:ext cx="1238250" cy="506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BA89115-EEC5-44B0-AD8B-8C4B7441A993}"/>
              </a:ext>
            </a:extLst>
          </p:cNvPr>
          <p:cNvSpPr/>
          <p:nvPr/>
        </p:nvSpPr>
        <p:spPr>
          <a:xfrm rot="5400000">
            <a:off x="5374223" y="1697574"/>
            <a:ext cx="923331" cy="939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2940736" y="680226"/>
            <a:ext cx="7427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200" b="1" cap="all" dirty="0"/>
              <a:t>SELECTION </a:t>
            </a:r>
            <a:r>
              <a:rPr lang="de-DE" sz="3200" b="1" cap="all" dirty="0" err="1"/>
              <a:t>of</a:t>
            </a:r>
            <a:r>
              <a:rPr lang="de-DE" sz="3200" b="1" cap="all" dirty="0"/>
              <a:t> </a:t>
            </a:r>
            <a:r>
              <a:rPr lang="de-DE" sz="3200" b="1" cap="all" dirty="0" err="1"/>
              <a:t>engines</a:t>
            </a:r>
            <a:endParaRPr lang="ru-RU" sz="3200" b="1" cap="al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51F087-9B53-4763-AD75-5846DB1FB093}"/>
              </a:ext>
            </a:extLst>
          </p:cNvPr>
          <p:cNvSpPr txBox="1"/>
          <p:nvPr/>
        </p:nvSpPr>
        <p:spPr>
          <a:xfrm>
            <a:off x="2016219" y="3403215"/>
            <a:ext cx="28457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KY215ACS0450-15 Servomotor for Hip Drive</a:t>
            </a:r>
            <a:endParaRPr 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D06C22D-30F4-42A2-BE7F-85F4D378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10</a:t>
            </a:fld>
            <a:endParaRPr lang="ru-RU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FCC32CA-5CA2-4644-905C-A299C1F77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217" y="1322717"/>
            <a:ext cx="2067593" cy="2067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881E509-F0D8-4D3E-99B0-0C59B005C7E3}"/>
              </a:ext>
            </a:extLst>
          </p:cNvPr>
          <p:cNvSpPr txBox="1"/>
          <p:nvPr/>
        </p:nvSpPr>
        <p:spPr>
          <a:xfrm>
            <a:off x="4554746" y="3434273"/>
            <a:ext cx="2845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KY110AS0420-25 servo motor for knee drive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3A6925-88D6-4F9F-A37C-104472344BAB}"/>
              </a:ext>
            </a:extLst>
          </p:cNvPr>
          <p:cNvSpPr txBox="1"/>
          <p:nvPr/>
        </p:nvSpPr>
        <p:spPr>
          <a:xfrm>
            <a:off x="7058930" y="3453876"/>
            <a:ext cx="28457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KY165ACS0405-02B Wheel Servo Motor for Wheel Drive</a:t>
            </a:r>
            <a:endParaRPr lang="en-US" dirty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5D714B03-EA79-452B-BD8C-EA9FD106B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063" y="1360474"/>
            <a:ext cx="2011683" cy="2011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866C6AA-CD5B-4145-87E6-D20D25D73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551" y="1382235"/>
            <a:ext cx="1958487" cy="195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Таблица 6">
            <a:extLst>
              <a:ext uri="{FF2B5EF4-FFF2-40B4-BE49-F238E27FC236}">
                <a16:creationId xmlns:a16="http://schemas.microsoft.com/office/drawing/2014/main" id="{B5F2E780-5DB4-41F7-8273-9EAE6408E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811556"/>
              </p:ext>
            </p:extLst>
          </p:nvPr>
        </p:nvGraphicFramePr>
        <p:xfrm>
          <a:off x="304800" y="4376075"/>
          <a:ext cx="11738361" cy="231535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148273">
                  <a:extLst>
                    <a:ext uri="{9D8B030D-6E8A-4147-A177-3AD203B41FA5}">
                      <a16:colId xmlns:a16="http://schemas.microsoft.com/office/drawing/2014/main" val="1641001311"/>
                    </a:ext>
                  </a:extLst>
                </a:gridCol>
                <a:gridCol w="2265958">
                  <a:extLst>
                    <a:ext uri="{9D8B030D-6E8A-4147-A177-3AD203B41FA5}">
                      <a16:colId xmlns:a16="http://schemas.microsoft.com/office/drawing/2014/main" val="1896390492"/>
                    </a:ext>
                  </a:extLst>
                </a:gridCol>
                <a:gridCol w="2634783">
                  <a:extLst>
                    <a:ext uri="{9D8B030D-6E8A-4147-A177-3AD203B41FA5}">
                      <a16:colId xmlns:a16="http://schemas.microsoft.com/office/drawing/2014/main" val="3407282153"/>
                    </a:ext>
                  </a:extLst>
                </a:gridCol>
                <a:gridCol w="2358237">
                  <a:extLst>
                    <a:ext uri="{9D8B030D-6E8A-4147-A177-3AD203B41FA5}">
                      <a16:colId xmlns:a16="http://schemas.microsoft.com/office/drawing/2014/main" val="242600997"/>
                    </a:ext>
                  </a:extLst>
                </a:gridCol>
                <a:gridCol w="2331110">
                  <a:extLst>
                    <a:ext uri="{9D8B030D-6E8A-4147-A177-3AD203B41FA5}">
                      <a16:colId xmlns:a16="http://schemas.microsoft.com/office/drawing/2014/main" val="1026686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4000 Вт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1500 Вт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500 Вт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70 Вт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401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1500 об/мин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1500 об/мин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250 об/мин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63 об\мин 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86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troque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31.8 Н*м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9.5 Н*м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4.2 Н*м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</a:t>
                      </a:r>
                      <a:r>
                        <a:rPr lang="ru-RU" dirty="0"/>
                        <a:t>Н*м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02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voltage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48 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48 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48 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 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552318"/>
                  </a:ext>
                </a:extLst>
              </a:tr>
              <a:tr h="461154">
                <a:tc>
                  <a:txBody>
                    <a:bodyPr/>
                    <a:lstStyle/>
                    <a:p>
                      <a:r>
                        <a:rPr lang="en-US" dirty="0"/>
                        <a:t>Mass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 кг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 кг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 кг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0.6 кг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97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encoder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Yes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61223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BCEB3F1E-F035-4817-BE92-6145D20975DF}"/>
              </a:ext>
            </a:extLst>
          </p:cNvPr>
          <p:cNvSpPr txBox="1"/>
          <p:nvPr/>
        </p:nvSpPr>
        <p:spPr>
          <a:xfrm>
            <a:off x="9774631" y="3421687"/>
            <a:ext cx="2327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KY40AS0105-12 Axis Locking Servo Motor</a:t>
            </a:r>
            <a:endParaRPr lang="en-US" dirty="0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4D7F87BB-7B1F-452D-B706-F12A9E4A8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631" y="1297190"/>
            <a:ext cx="1914059" cy="191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563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2979420" y="577959"/>
            <a:ext cx="7427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200" b="1" cap="all" dirty="0">
                <a:latin typeface="ALS Sector Bold" panose="02000000000000000000" pitchFamily="50" charset="0"/>
              </a:rPr>
              <a:t>SIMSCAPE ROBOT CONTROL SYSTEM</a:t>
            </a:r>
            <a:endParaRPr lang="ru-RU" sz="3200" b="1" cap="all" dirty="0">
              <a:latin typeface="ALS Sector Bold" panose="02000000000000000000" pitchFamily="50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96A8E21-CA0E-4D34-8DAF-46D5AD29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11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1FBA8E8-613E-4F20-9863-4F3D11AB9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00" y="1327097"/>
            <a:ext cx="7750812" cy="30479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B0631C-48CB-409D-95DE-68A85D413DB2}"/>
              </a:ext>
            </a:extLst>
          </p:cNvPr>
          <p:cNvSpPr txBox="1"/>
          <p:nvPr/>
        </p:nvSpPr>
        <p:spPr>
          <a:xfrm>
            <a:off x="749089" y="4953000"/>
            <a:ext cx="3851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14 Assembling the robot leg model in Simulink </a:t>
            </a:r>
            <a:r>
              <a:rPr lang="en-US" dirty="0" err="1"/>
              <a:t>Simscape</a:t>
            </a:r>
            <a:r>
              <a:rPr lang="en-US" dirty="0"/>
              <a:t> and the drive model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736BA97-B79E-4F8A-B9B8-9FF0C64ED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450" y="1919010"/>
            <a:ext cx="4234649" cy="186417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DC3EF9-CCE3-405E-BCF6-66FCF046E1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2028" y="4158952"/>
            <a:ext cx="6497143" cy="1588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951B73-9B49-4B27-821B-0046C2BA7DDA}"/>
              </a:ext>
            </a:extLst>
          </p:cNvPr>
          <p:cNvSpPr txBox="1"/>
          <p:nvPr/>
        </p:nvSpPr>
        <p:spPr>
          <a:xfrm>
            <a:off x="5571869" y="5682367"/>
            <a:ext cx="46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The KY110AS0420-25 drive with gearbox I = 23 was used.</a:t>
            </a:r>
          </a:p>
        </p:txBody>
      </p:sp>
    </p:spTree>
    <p:extLst>
      <p:ext uri="{BB962C8B-B14F-4D97-AF65-F5344CB8AC3E}">
        <p14:creationId xmlns:p14="http://schemas.microsoft.com/office/powerpoint/2010/main" val="3242807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2998274" y="587386"/>
            <a:ext cx="7427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200" cap="all" dirty="0" err="1"/>
              <a:t>Simscape</a:t>
            </a:r>
            <a:r>
              <a:rPr lang="de-DE" sz="3200" cap="all" dirty="0"/>
              <a:t> Multibody Modeling</a:t>
            </a:r>
            <a:endParaRPr lang="ru-RU" sz="3200" cap="all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96A8E21-CA0E-4D34-8DAF-46D5AD29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DD309C-AD3C-462E-BE9A-0ED4437DC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68" y="1517100"/>
            <a:ext cx="5844107" cy="313893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D171BC-4C9C-42F6-B4E5-DD64098E5E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017" y="4311709"/>
            <a:ext cx="3839158" cy="254629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25E5EE4-14D0-4A68-ACC6-6A3B30BD69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5" y="1396300"/>
            <a:ext cx="6753225" cy="35186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93D5E4-1285-4F47-8243-2C03EA1CAD35}"/>
              </a:ext>
            </a:extLst>
          </p:cNvPr>
          <p:cNvSpPr txBox="1"/>
          <p:nvPr/>
        </p:nvSpPr>
        <p:spPr>
          <a:xfrm>
            <a:off x="1832883" y="5295899"/>
            <a:ext cx="3851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15. The reference action and the resulting angles and animation of the robot in Mechanics Explorer</a:t>
            </a:r>
          </a:p>
        </p:txBody>
      </p:sp>
    </p:spTree>
    <p:extLst>
      <p:ext uri="{BB962C8B-B14F-4D97-AF65-F5344CB8AC3E}">
        <p14:creationId xmlns:p14="http://schemas.microsoft.com/office/powerpoint/2010/main" val="170462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2979420" y="577959"/>
            <a:ext cx="74279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cap="all" dirty="0"/>
              <a:t>Functional diagram of the transport platform</a:t>
            </a:r>
            <a:endParaRPr lang="ru-RU" sz="3200" b="1" cap="al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5AEE1-5FD5-43E1-8D3C-285D0B917C00}"/>
              </a:ext>
            </a:extLst>
          </p:cNvPr>
          <p:cNvSpPr txBox="1"/>
          <p:nvPr/>
        </p:nvSpPr>
        <p:spPr>
          <a:xfrm>
            <a:off x="1633304" y="6396144"/>
            <a:ext cx="5881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Fig. 16. Functional diagram of the platform control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70BD231-C913-44CA-A120-08F85D3E9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52" y="1485900"/>
            <a:ext cx="10567699" cy="4910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96A8E21-CA0E-4D34-8DAF-46D5AD29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781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69F3EE-BA50-4073-8913-1396A95414D1}"/>
              </a:ext>
            </a:extLst>
          </p:cNvPr>
          <p:cNvSpPr txBox="1"/>
          <p:nvPr/>
        </p:nvSpPr>
        <p:spPr>
          <a:xfrm>
            <a:off x="3122970" y="626760"/>
            <a:ext cx="6917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200" b="1" cap="all" dirty="0"/>
              <a:t>CONCLUSION</a:t>
            </a:r>
            <a:endParaRPr lang="ru-RU" sz="3200" b="1" cap="all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E6390D7-3FED-4AAA-8B5B-6901745EB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14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67AD58-586F-456C-A4A9-520E44FF09E7}"/>
              </a:ext>
            </a:extLst>
          </p:cNvPr>
          <p:cNvSpPr txBox="1"/>
          <p:nvPr/>
        </p:nvSpPr>
        <p:spPr>
          <a:xfrm>
            <a:off x="891940" y="1341009"/>
            <a:ext cx="10408119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LS Sector Bold" panose="02000000000000000000" pitchFamily="50" charset="0"/>
              </a:rPr>
              <a:t>As part of this semester's R&amp;D work: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LS Sector Bold" panose="02000000000000000000" pitchFamily="50" charset="0"/>
              </a:rPr>
              <a:t>The following tasks were completed: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LS Sector Bold" panose="02000000000000000000" pitchFamily="50" charset="0"/>
              </a:rPr>
              <a:t>The overview section was expanded, the feasibility of using the UAV was confirmed, and the requirements were adjusted.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LS Sector Bold" panose="02000000000000000000" pitchFamily="50" charset="0"/>
              </a:rPr>
              <a:t>A platform kinematics model was developed;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LS Sector Bold" panose="02000000000000000000" pitchFamily="50" charset="0"/>
              </a:rPr>
              <a:t>An energy calculation was conducted, and engines were selected;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LS Sector Bold" panose="02000000000000000000" pitchFamily="50" charset="0"/>
              </a:rPr>
              <a:t>The platform control system structure was created;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LS Sector Bold" panose="02000000000000000000" pitchFamily="50" charset="0"/>
              </a:rPr>
              <a:t>A functional diagram of the platform was created for developing the control unit.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LS Sector Bold" panose="02000000000000000000" pitchFamily="50" charset="0"/>
              </a:rPr>
              <a:t>The cross-country performance parameters were assessed and meet the technical specifications.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LS Sector Bold" panose="02000000000000000000" pitchFamily="50" charset="0"/>
              </a:rPr>
              <a:t>The work plan for the following semesters was updated.</a:t>
            </a:r>
            <a:endParaRPr lang="ru-RU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682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69F3EE-BA50-4073-8913-1396A95414D1}"/>
              </a:ext>
            </a:extLst>
          </p:cNvPr>
          <p:cNvSpPr txBox="1"/>
          <p:nvPr/>
        </p:nvSpPr>
        <p:spPr>
          <a:xfrm>
            <a:off x="3122970" y="626760"/>
            <a:ext cx="6917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200" b="1" cap="all" dirty="0"/>
              <a:t>References</a:t>
            </a:r>
            <a:endParaRPr lang="ru-RU" sz="3200" b="1" cap="all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E6390D7-3FED-4AAA-8B5B-6901745EB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15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67AD58-586F-456C-A4A9-520E44FF09E7}"/>
              </a:ext>
            </a:extLst>
          </p:cNvPr>
          <p:cNvSpPr txBox="1"/>
          <p:nvPr/>
        </p:nvSpPr>
        <p:spPr>
          <a:xfrm>
            <a:off x="891940" y="1341009"/>
            <a:ext cx="10408119" cy="489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ALS Sector Bold" panose="02000000000000000000" pitchFamily="50" charset="0"/>
              </a:rPr>
              <a:t>1) Hong, </a:t>
            </a:r>
            <a:r>
              <a:rPr lang="en-US" sz="1600" dirty="0" err="1">
                <a:latin typeface="ALS Sector Bold" panose="02000000000000000000" pitchFamily="50" charset="0"/>
              </a:rPr>
              <a:t>Shaozun</a:t>
            </a:r>
            <a:r>
              <a:rPr lang="en-US" sz="1600" dirty="0">
                <a:latin typeface="ALS Sector Bold" panose="02000000000000000000" pitchFamily="50" charset="0"/>
              </a:rPr>
              <a:t> &amp; Wu, </a:t>
            </a:r>
            <a:r>
              <a:rPr lang="en-US" sz="1600" dirty="0" err="1">
                <a:latin typeface="ALS Sector Bold" panose="02000000000000000000" pitchFamily="50" charset="0"/>
              </a:rPr>
              <a:t>Meiping</a:t>
            </a:r>
            <a:r>
              <a:rPr lang="en-US" sz="1600" dirty="0">
                <a:latin typeface="ALS Sector Bold" panose="02000000000000000000" pitchFamily="50" charset="0"/>
              </a:rPr>
              <a:t> &amp; Xiao, </a:t>
            </a:r>
            <a:r>
              <a:rPr lang="en-US" sz="1600" dirty="0" err="1">
                <a:latin typeface="ALS Sector Bold" panose="02000000000000000000" pitchFamily="50" charset="0"/>
              </a:rPr>
              <a:t>Junhao</a:t>
            </a:r>
            <a:r>
              <a:rPr lang="en-US" sz="1600" dirty="0">
                <a:latin typeface="ALS Sector Bold" panose="02000000000000000000" pitchFamily="50" charset="0"/>
              </a:rPr>
              <a:t> &amp; Xu, </a:t>
            </a:r>
            <a:r>
              <a:rPr lang="en-US" sz="1600" dirty="0" err="1">
                <a:latin typeface="ALS Sector Bold" panose="02000000000000000000" pitchFamily="50" charset="0"/>
              </a:rPr>
              <a:t>Xiaohong</a:t>
            </a:r>
            <a:r>
              <a:rPr lang="en-US" sz="1600" dirty="0">
                <a:latin typeface="ALS Sector Bold" panose="02000000000000000000" pitchFamily="50" charset="0"/>
              </a:rPr>
              <a:t> &amp; Lu, </a:t>
            </a:r>
            <a:r>
              <a:rPr lang="en-US" sz="1600" dirty="0" err="1">
                <a:latin typeface="ALS Sector Bold" panose="02000000000000000000" pitchFamily="50" charset="0"/>
              </a:rPr>
              <a:t>Huimin</a:t>
            </a:r>
            <a:r>
              <a:rPr lang="en-US" sz="1600" dirty="0">
                <a:latin typeface="ALS Sector Bold" panose="02000000000000000000" pitchFamily="50" charset="0"/>
              </a:rPr>
              <a:t>. (2017). </a:t>
            </a:r>
            <a:r>
              <a:rPr lang="en-US" sz="1600" dirty="0" err="1">
                <a:latin typeface="ALS Sector Bold" panose="02000000000000000000" pitchFamily="50" charset="0"/>
              </a:rPr>
              <a:t>Kylin</a:t>
            </a:r>
            <a:r>
              <a:rPr lang="en-US" sz="1600" dirty="0">
                <a:latin typeface="ALS Sector Bold" panose="02000000000000000000" pitchFamily="50" charset="0"/>
              </a:rPr>
              <a:t>: A transformable track-wheel hybrid robot. 10.1109/ICAMechS.2017.8316541.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LS Sector Bold" panose="02000000000000000000" pitchFamily="50" charset="0"/>
              </a:rPr>
              <a:t>2) Jay D., Hackett J.E., </a:t>
            </a:r>
            <a:r>
              <a:rPr lang="en-US" sz="1600" dirty="0" err="1">
                <a:latin typeface="ALS Sector Bold" panose="02000000000000000000" pitchFamily="50" charset="0"/>
              </a:rPr>
              <a:t>Bosscher</a:t>
            </a:r>
            <a:r>
              <a:rPr lang="en-US" sz="1600" dirty="0">
                <a:latin typeface="ALS Sector Bold" panose="02000000000000000000" pitchFamily="50" charset="0"/>
              </a:rPr>
              <a:t> P., </a:t>
            </a:r>
            <a:r>
              <a:rPr lang="en-US" sz="1600" dirty="0" err="1">
                <a:latin typeface="ALS Sector Bold" panose="02000000000000000000" pitchFamily="50" charset="0"/>
              </a:rPr>
              <a:t>Hubicki</a:t>
            </a:r>
            <a:r>
              <a:rPr lang="en-US" sz="1600" dirty="0">
                <a:latin typeface="ALS Sector Bold" panose="02000000000000000000" pitchFamily="50" charset="0"/>
              </a:rPr>
              <a:t> C.M., Clark J.E., 2025. "</a:t>
            </a:r>
            <a:r>
              <a:rPr lang="en-US" sz="1600" dirty="0" err="1">
                <a:latin typeface="ALS Sector Bold" panose="02000000000000000000" pitchFamily="50" charset="0"/>
              </a:rPr>
              <a:t>WaLTER</a:t>
            </a:r>
            <a:r>
              <a:rPr lang="en-US" sz="1600" dirty="0">
                <a:latin typeface="ALS Sector Bold" panose="02000000000000000000" pitchFamily="50" charset="0"/>
              </a:rPr>
              <a:t>: A Wheel and Leg Tumbling Expedition Robot." IEEE International Conference on Robotics and Automation (ICRA).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LS Sector Bold" panose="02000000000000000000" pitchFamily="50" charset="0"/>
              </a:rPr>
              <a:t>3) Brian D. Harrington* and Chris Voorhees The Challenges of Designing the Rocker-Bogie Suspension for the Mars Exploration Rover 2004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LS Sector Bold" panose="02000000000000000000" pitchFamily="50" charset="0"/>
              </a:rPr>
              <a:t>4) </a:t>
            </a:r>
            <a:r>
              <a:rPr lang="en-US" sz="1600" dirty="0" err="1">
                <a:latin typeface="ALS Sector Bold" panose="02000000000000000000" pitchFamily="50" charset="0"/>
              </a:rPr>
              <a:t>Paillat</a:t>
            </a:r>
            <a:r>
              <a:rPr lang="en-US" sz="1600" dirty="0">
                <a:latin typeface="ALS Sector Bold" panose="02000000000000000000" pitchFamily="50" charset="0"/>
              </a:rPr>
              <a:t>, Jean-Luc &amp; Com, </a:t>
            </a:r>
            <a:r>
              <a:rPr lang="en-US" sz="1600" dirty="0" err="1">
                <a:latin typeface="ALS Sector Bold" panose="02000000000000000000" pitchFamily="50" charset="0"/>
              </a:rPr>
              <a:t>Jlpaillat@gmail</a:t>
            </a:r>
            <a:r>
              <a:rPr lang="en-US" sz="1600" dirty="0">
                <a:latin typeface="ALS Sector Bold" panose="02000000000000000000" pitchFamily="50" charset="0"/>
              </a:rPr>
              <a:t> &amp; </a:t>
            </a:r>
            <a:r>
              <a:rPr lang="en-US" sz="1600" dirty="0" err="1">
                <a:latin typeface="ALS Sector Bold" panose="02000000000000000000" pitchFamily="50" charset="0"/>
              </a:rPr>
              <a:t>Lucidarme</a:t>
            </a:r>
            <a:r>
              <a:rPr lang="en-US" sz="1600" dirty="0">
                <a:latin typeface="ALS Sector Bold" panose="02000000000000000000" pitchFamily="50" charset="0"/>
              </a:rPr>
              <a:t>, Philippe &amp; </a:t>
            </a:r>
            <a:r>
              <a:rPr lang="en-US" sz="1600" dirty="0" err="1">
                <a:latin typeface="ALS Sector Bold" panose="02000000000000000000" pitchFamily="50" charset="0"/>
              </a:rPr>
              <a:t>Hardouin</a:t>
            </a:r>
            <a:r>
              <a:rPr lang="en-US" sz="1600" dirty="0">
                <a:latin typeface="ALS Sector Bold" panose="02000000000000000000" pitchFamily="50" charset="0"/>
              </a:rPr>
              <a:t>, Laurent. Variable Geometry Tracked Vehicle (VGTV) prototype: conception, capability, and problems. 2008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LS Sector Bold" panose="02000000000000000000" pitchFamily="50" charset="0"/>
              </a:rPr>
              <a:t>6) </a:t>
            </a:r>
            <a:r>
              <a:rPr lang="en-US" sz="1600" dirty="0" err="1">
                <a:latin typeface="ALS Sector Bold" panose="02000000000000000000" pitchFamily="50" charset="0"/>
              </a:rPr>
              <a:t>Jörg</a:t>
            </a:r>
            <a:r>
              <a:rPr lang="en-US" sz="1600" dirty="0">
                <a:latin typeface="ALS Sector Bold" panose="02000000000000000000" pitchFamily="50" charset="0"/>
              </a:rPr>
              <a:t> Mämpel1,*, Sebastian Köhring1, Robert Koopmann1, Kristian Langguth1, Roy Lichtenfeld1, and Hartmut Witte ROLV – A Hybrid Wheel Robot Using Compliant Mechanisms for Locomotion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LS Sector Bold" panose="02000000000000000000" pitchFamily="50" charset="0"/>
              </a:rPr>
              <a:t>7) A. I. </a:t>
            </a:r>
            <a:r>
              <a:rPr lang="en-US" sz="1600" dirty="0" err="1">
                <a:latin typeface="ALS Sector Bold" panose="02000000000000000000" pitchFamily="50" charset="0"/>
              </a:rPr>
              <a:t>Eremeev</a:t>
            </a:r>
            <a:r>
              <a:rPr lang="en-US" sz="1600" dirty="0">
                <a:latin typeface="ALS Sector Bold" panose="02000000000000000000" pitchFamily="50" charset="0"/>
              </a:rPr>
              <a:t> et al.; Ed. O. F. Tishchenko. A 1. Class of Designs of Instrument Elements: Textbook. Handbook for Students of Instrument-Making Specialties at Universities / A. A. </a:t>
            </a:r>
            <a:r>
              <a:rPr lang="en-US" sz="1600" dirty="0" err="1">
                <a:latin typeface="ALS Sector Bold" panose="02000000000000000000" pitchFamily="50" charset="0"/>
              </a:rPr>
              <a:t>Butsev</a:t>
            </a:r>
            <a:r>
              <a:rPr lang="en-US" sz="1600" dirty="0">
                <a:latin typeface="ALS Sector Bold" panose="02000000000000000000" pitchFamily="50" charset="0"/>
              </a:rPr>
              <a:t>, Moscow: </a:t>
            </a:r>
            <a:r>
              <a:rPr lang="en-US" sz="1600" dirty="0" err="1">
                <a:latin typeface="ALS Sector Bold" panose="02000000000000000000" pitchFamily="50" charset="0"/>
              </a:rPr>
              <a:t>Mashinostroenie</a:t>
            </a:r>
            <a:r>
              <a:rPr lang="en-US" sz="1600" dirty="0">
                <a:latin typeface="ALS Sector Bold" panose="02000000000000000000" pitchFamily="50" charset="0"/>
              </a:rPr>
              <a:t>, 1982. 116 p.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LS Sector Bold" panose="02000000000000000000" pitchFamily="50" charset="0"/>
              </a:rPr>
              <a:t>8) DJI DOCK 2 User Manual</a:t>
            </a:r>
            <a:endParaRPr lang="ru-RU" sz="1400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474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0E637A-8DC1-4378-AC4C-2326F569C588}"/>
              </a:ext>
            </a:extLst>
          </p:cNvPr>
          <p:cNvSpPr txBox="1"/>
          <p:nvPr/>
        </p:nvSpPr>
        <p:spPr>
          <a:xfrm>
            <a:off x="1158240" y="2495565"/>
            <a:ext cx="6896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Thank you for your attention!</a:t>
            </a:r>
            <a:endParaRPr lang="ru-RU" sz="4000" cap="all" dirty="0">
              <a:solidFill>
                <a:schemeClr val="bg1"/>
              </a:solidFill>
              <a:latin typeface="ALS Sector Bold" panose="02000000000000000000" pitchFamily="50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EC119A3-94F8-4A59-93F5-34B76F9F4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550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2116</TotalTime>
  <Words>1118</Words>
  <Application>Microsoft Office PowerPoint</Application>
  <PresentationFormat>Широкоэкранный</PresentationFormat>
  <Paragraphs>181</Paragraphs>
  <Slides>16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ALS Sector Bold</vt:lpstr>
      <vt:lpstr>ALS Sector Regular</vt:lpstr>
      <vt:lpstr>Arial</vt:lpstr>
      <vt:lpstr>Calibri</vt:lpstr>
      <vt:lpstr>Calibri Light</vt:lpstr>
      <vt:lpstr>Cambria Math</vt:lpstr>
      <vt:lpstr>Open Sans</vt:lpstr>
      <vt:lpstr>ST-Donbass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Санников Артём</cp:lastModifiedBy>
  <cp:revision>137</cp:revision>
  <cp:lastPrinted>2026-04-19T21:35:19Z</cp:lastPrinted>
  <dcterms:created xsi:type="dcterms:W3CDTF">2026-03-23T12:07:38Z</dcterms:created>
  <dcterms:modified xsi:type="dcterms:W3CDTF">2026-05-27T13:26:24Z</dcterms:modified>
</cp:coreProperties>
</file>